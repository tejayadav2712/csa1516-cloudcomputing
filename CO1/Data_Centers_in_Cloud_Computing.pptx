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Today I'm going to unpack something we all rely on constantly but rarely see: the data center, and the specific role it plays in making cloud computing work. By the end of this short talk, you'll understand what a data center actually is, how it's architected, why it matters to the industry at scale, and we'll walk through one concrete real-world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move through four parts: first, clear definitions so we're all using the same vocabulary; second, the architecture of a data center layer by layer; third, why this matters to the industry right now, with some current numbers; and finally a concrete example that ties it all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definitions, because people often use these terms interchangeably and they're not the same thing. A data center is physical: a building full of servers, storage, networking gear, plus the power and cooling systems that keep it all alive. Cloud computing is the service layer on top of that: on-demand access to computing power, storage, and software, delivered over the internet, where you never have to touch or manage the physical hardware yourself. So the simplest way to remember it: the data center is the 'where' — the cloud is the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a data center is really a stack of six layers working together. At the base: facility and power — the building itself, redundant power feeds, generators, and battery backup so it never goes dark. Layered on top: cooling, because dense racks of servers generate enormous heat. Then compute and storage — the actual servers, CPUs, GPUs and disks doing the work. Networking ties it all together internally and to the outside internet. The virtualization layer is the key software piece: it takes physical machines and slices them into flexible resources that can be rented out. And finally, security and redundancy — access control, firewalls, and failover — keep the whole thing safe and always-on.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a physical building actually become 'the cloud'? It's a three-step transformation. You start with raw physical resources — racks and racks of servers. Virtualization and orchestration software then takes that hardware and slices it into flexible, shareable units. And that's what gets exposed to customers as a cloud service — infrastructure, platform, or software as a service — available on demand over the internet. And critically, providers don't rely on just one building. They group data centers into availability zones and regions, so that if one facility has an outage, traffic automatically shifts elsewhere and the service stays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isn't a niche topic — it's one of the largest infrastructure investment categories in the world right now. Global data center capital spending is forecast to exceed one trillion dollars in 2026 alone, growing at roughly eleven percent a year. The U.S. alone hosts over four thousand data centers. And the industry standard for reliability — Tier 3 and Tier 4 facilities — guarantee uptime around 99.99 percent, which is less than an hour of downtime a year. Why does this matter? Because virtually every major industry now depends on cloud infrastructure for core operations, and AI workloads are pushing demand for these facilities even higher. Ultimately, the reliability of the data center is the reliability of the cloud service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make this concrete. Think about streaming a show tonight. The moment you press play, that request doesn't travel to one distant server on the other side of the world. It gets routed to the nearest regional data center, which serves the video from a locally cached copy — that's why playback starts almost instantly. Behind the scenes, data centers across many regions are handling video encoding, personalized recommendations, and account authentication simultaneously. And if one data center has a hardware failure or an outage, traffic automatically reroutes to another region — you as the viewer never even notice. That entire experience — instant, reliable, global — is only possible because of the distributed data center infrastructure underneath the cloud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to bring it together: the data center is the physical foundation everything else is built on. Virtualization is the bridge that turns that fixed hardware into flexible, on-demand cloud resources. And scale plus redundancy — spreading facilities across regions — is what makes cloud services reliable even when individual hardware fails. The bottom line I want you to leave with: the cloud isn't an abstract, weightless thing — it's a global network of very real, very physical data centers, engineered so well that it feels invisible to the end user.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052560" y="1005840"/>
            <a:ext cx="2651760" cy="4572000"/>
          </a:xfrm>
          <a:prstGeom prst="roundRect">
            <a:avLst>
              <a:gd name="adj" fmla="val 4138"/>
            </a:avLst>
          </a:prstGeom>
          <a:solidFill>
            <a:srgbClr val="1C7293"/>
          </a:solidFill>
          <a:ln/>
        </p:spPr>
      </p:sp>
      <p:sp>
        <p:nvSpPr>
          <p:cNvPr id="3" name="Shape 1"/>
          <p:cNvSpPr/>
          <p:nvPr/>
        </p:nvSpPr>
        <p:spPr>
          <a:xfrm>
            <a:off x="9098280" y="1325880"/>
            <a:ext cx="2286000" cy="3749040"/>
          </a:xfrm>
          <a:prstGeom prst="roundRect">
            <a:avLst>
              <a:gd name="adj" fmla="val 4800"/>
            </a:avLst>
          </a:prstGeom>
          <a:solidFill>
            <a:srgbClr val="065A82">
              <a:alpha val="90000"/>
            </a:srgbClr>
          </a:solidFill>
          <a:ln/>
        </p:spPr>
      </p:sp>
      <p:sp>
        <p:nvSpPr>
          <p:cNvPr id="4" name="Shape 2"/>
          <p:cNvSpPr/>
          <p:nvPr/>
        </p:nvSpPr>
        <p:spPr>
          <a:xfrm>
            <a:off x="9144000" y="1645920"/>
            <a:ext cx="1920240" cy="2926080"/>
          </a:xfrm>
          <a:prstGeom prst="roundRect">
            <a:avLst>
              <a:gd name="adj" fmla="val 5714"/>
            </a:avLst>
          </a:prstGeom>
          <a:solidFill>
            <a:srgbClr val="163C57">
              <a:alpha val="90000"/>
            </a:srgbClr>
          </a:solidFill>
          <a:ln/>
        </p:spPr>
      </p:sp>
      <p:sp>
        <p:nvSpPr>
          <p:cNvPr id="5" name="Shape 3"/>
          <p:cNvSpPr/>
          <p:nvPr/>
        </p:nvSpPr>
        <p:spPr>
          <a:xfrm>
            <a:off x="9281160" y="1234440"/>
            <a:ext cx="2194560" cy="329184"/>
          </a:xfrm>
          <a:prstGeom prst="rect">
            <a:avLst/>
          </a:prstGeom>
          <a:solidFill>
            <a:srgbClr val="21295C">
              <a:alpha val="70000"/>
            </a:srgbClr>
          </a:solidFill>
          <a:ln w="9525">
            <a:solidFill>
              <a:srgbClr val="5FD3C4"/>
            </a:solidFill>
            <a:prstDash val="solid"/>
          </a:ln>
        </p:spPr>
      </p:sp>
      <p:sp>
        <p:nvSpPr>
          <p:cNvPr id="6" name="Shape 4"/>
          <p:cNvSpPr/>
          <p:nvPr/>
        </p:nvSpPr>
        <p:spPr>
          <a:xfrm>
            <a:off x="11247120" y="1353312"/>
            <a:ext cx="91440" cy="91440"/>
          </a:xfrm>
          <a:prstGeom prst="ellipse">
            <a:avLst/>
          </a:prstGeom>
          <a:solidFill>
            <a:srgbClr val="5FD3C4"/>
          </a:solidFill>
          <a:ln/>
        </p:spPr>
      </p:sp>
      <p:sp>
        <p:nvSpPr>
          <p:cNvPr id="7" name="Shape 5"/>
          <p:cNvSpPr/>
          <p:nvPr/>
        </p:nvSpPr>
        <p:spPr>
          <a:xfrm>
            <a:off x="9281160" y="1719072"/>
            <a:ext cx="2194560" cy="329184"/>
          </a:xfrm>
          <a:prstGeom prst="rect">
            <a:avLst/>
          </a:prstGeom>
          <a:solidFill>
            <a:srgbClr val="21295C">
              <a:alpha val="70000"/>
            </a:srgbClr>
          </a:solidFill>
          <a:ln w="9525">
            <a:solidFill>
              <a:srgbClr val="5FD3C4"/>
            </a:solidFill>
            <a:prstDash val="solid"/>
          </a:ln>
        </p:spPr>
      </p:sp>
      <p:sp>
        <p:nvSpPr>
          <p:cNvPr id="8" name="Shape 6"/>
          <p:cNvSpPr/>
          <p:nvPr/>
        </p:nvSpPr>
        <p:spPr>
          <a:xfrm>
            <a:off x="11247120" y="1837944"/>
            <a:ext cx="91440" cy="91440"/>
          </a:xfrm>
          <a:prstGeom prst="ellipse">
            <a:avLst/>
          </a:prstGeom>
          <a:solidFill>
            <a:srgbClr val="5FD3C4"/>
          </a:solidFill>
          <a:ln/>
        </p:spPr>
      </p:sp>
      <p:sp>
        <p:nvSpPr>
          <p:cNvPr id="9" name="Shape 7"/>
          <p:cNvSpPr/>
          <p:nvPr/>
        </p:nvSpPr>
        <p:spPr>
          <a:xfrm>
            <a:off x="9281160" y="2203704"/>
            <a:ext cx="2194560" cy="329184"/>
          </a:xfrm>
          <a:prstGeom prst="rect">
            <a:avLst/>
          </a:prstGeom>
          <a:solidFill>
            <a:srgbClr val="21295C">
              <a:alpha val="70000"/>
            </a:srgbClr>
          </a:solidFill>
          <a:ln w="9525">
            <a:solidFill>
              <a:srgbClr val="5FD3C4"/>
            </a:solidFill>
            <a:prstDash val="solid"/>
          </a:ln>
        </p:spPr>
      </p:sp>
      <p:sp>
        <p:nvSpPr>
          <p:cNvPr id="10" name="Shape 8"/>
          <p:cNvSpPr/>
          <p:nvPr/>
        </p:nvSpPr>
        <p:spPr>
          <a:xfrm>
            <a:off x="11247120" y="2322576"/>
            <a:ext cx="91440" cy="91440"/>
          </a:xfrm>
          <a:prstGeom prst="ellipse">
            <a:avLst/>
          </a:prstGeom>
          <a:solidFill>
            <a:srgbClr val="5FD3C4"/>
          </a:solidFill>
          <a:ln/>
        </p:spPr>
      </p:sp>
      <p:sp>
        <p:nvSpPr>
          <p:cNvPr id="11" name="Shape 9"/>
          <p:cNvSpPr/>
          <p:nvPr/>
        </p:nvSpPr>
        <p:spPr>
          <a:xfrm>
            <a:off x="9281160" y="2688336"/>
            <a:ext cx="2194560" cy="329184"/>
          </a:xfrm>
          <a:prstGeom prst="rect">
            <a:avLst/>
          </a:prstGeom>
          <a:solidFill>
            <a:srgbClr val="21295C">
              <a:alpha val="70000"/>
            </a:srgbClr>
          </a:solidFill>
          <a:ln w="9525">
            <a:solidFill>
              <a:srgbClr val="5FD3C4"/>
            </a:solidFill>
            <a:prstDash val="solid"/>
          </a:ln>
        </p:spPr>
      </p:sp>
      <p:sp>
        <p:nvSpPr>
          <p:cNvPr id="12" name="Shape 10"/>
          <p:cNvSpPr/>
          <p:nvPr/>
        </p:nvSpPr>
        <p:spPr>
          <a:xfrm>
            <a:off x="11247120" y="2807208"/>
            <a:ext cx="91440" cy="91440"/>
          </a:xfrm>
          <a:prstGeom prst="ellipse">
            <a:avLst/>
          </a:prstGeom>
          <a:solidFill>
            <a:srgbClr val="5FD3C4"/>
          </a:solidFill>
          <a:ln/>
        </p:spPr>
      </p:sp>
      <p:sp>
        <p:nvSpPr>
          <p:cNvPr id="13" name="Shape 11"/>
          <p:cNvSpPr/>
          <p:nvPr/>
        </p:nvSpPr>
        <p:spPr>
          <a:xfrm>
            <a:off x="9281160" y="3172968"/>
            <a:ext cx="2194560" cy="329184"/>
          </a:xfrm>
          <a:prstGeom prst="rect">
            <a:avLst/>
          </a:prstGeom>
          <a:solidFill>
            <a:srgbClr val="21295C">
              <a:alpha val="70000"/>
            </a:srgbClr>
          </a:solidFill>
          <a:ln w="9525">
            <a:solidFill>
              <a:srgbClr val="5FD3C4"/>
            </a:solidFill>
            <a:prstDash val="solid"/>
          </a:ln>
        </p:spPr>
      </p:sp>
      <p:sp>
        <p:nvSpPr>
          <p:cNvPr id="14" name="Shape 12"/>
          <p:cNvSpPr/>
          <p:nvPr/>
        </p:nvSpPr>
        <p:spPr>
          <a:xfrm>
            <a:off x="11247120" y="3291840"/>
            <a:ext cx="91440" cy="91440"/>
          </a:xfrm>
          <a:prstGeom prst="ellipse">
            <a:avLst/>
          </a:prstGeom>
          <a:solidFill>
            <a:srgbClr val="5FD3C4"/>
          </a:solidFill>
          <a:ln/>
        </p:spPr>
      </p:sp>
      <p:sp>
        <p:nvSpPr>
          <p:cNvPr id="15" name="Shape 13"/>
          <p:cNvSpPr/>
          <p:nvPr/>
        </p:nvSpPr>
        <p:spPr>
          <a:xfrm>
            <a:off x="9281160" y="3657600"/>
            <a:ext cx="2194560" cy="329184"/>
          </a:xfrm>
          <a:prstGeom prst="rect">
            <a:avLst/>
          </a:prstGeom>
          <a:solidFill>
            <a:srgbClr val="21295C">
              <a:alpha val="70000"/>
            </a:srgbClr>
          </a:solidFill>
          <a:ln w="9525">
            <a:solidFill>
              <a:srgbClr val="5FD3C4"/>
            </a:solidFill>
            <a:prstDash val="solid"/>
          </a:ln>
        </p:spPr>
      </p:sp>
      <p:sp>
        <p:nvSpPr>
          <p:cNvPr id="16" name="Shape 14"/>
          <p:cNvSpPr/>
          <p:nvPr/>
        </p:nvSpPr>
        <p:spPr>
          <a:xfrm>
            <a:off x="11247120" y="3776472"/>
            <a:ext cx="91440" cy="91440"/>
          </a:xfrm>
          <a:prstGeom prst="ellipse">
            <a:avLst/>
          </a:prstGeom>
          <a:solidFill>
            <a:srgbClr val="5FD3C4"/>
          </a:solidFill>
          <a:ln/>
        </p:spPr>
      </p:sp>
      <p:sp>
        <p:nvSpPr>
          <p:cNvPr id="17" name="Shape 15"/>
          <p:cNvSpPr/>
          <p:nvPr/>
        </p:nvSpPr>
        <p:spPr>
          <a:xfrm>
            <a:off x="9281160" y="4142232"/>
            <a:ext cx="2194560" cy="329184"/>
          </a:xfrm>
          <a:prstGeom prst="rect">
            <a:avLst/>
          </a:prstGeom>
          <a:solidFill>
            <a:srgbClr val="21295C">
              <a:alpha val="70000"/>
            </a:srgbClr>
          </a:solidFill>
          <a:ln w="9525">
            <a:solidFill>
              <a:srgbClr val="5FD3C4"/>
            </a:solidFill>
            <a:prstDash val="solid"/>
          </a:ln>
        </p:spPr>
      </p:sp>
      <p:sp>
        <p:nvSpPr>
          <p:cNvPr id="18" name="Shape 16"/>
          <p:cNvSpPr/>
          <p:nvPr/>
        </p:nvSpPr>
        <p:spPr>
          <a:xfrm>
            <a:off x="11247120" y="4261104"/>
            <a:ext cx="91440" cy="91440"/>
          </a:xfrm>
          <a:prstGeom prst="ellipse">
            <a:avLst/>
          </a:prstGeom>
          <a:solidFill>
            <a:srgbClr val="5FD3C4"/>
          </a:solidFill>
          <a:ln/>
        </p:spPr>
      </p:sp>
      <p:sp>
        <p:nvSpPr>
          <p:cNvPr id="19" name="Shape 17"/>
          <p:cNvSpPr/>
          <p:nvPr/>
        </p:nvSpPr>
        <p:spPr>
          <a:xfrm>
            <a:off x="9281160" y="4626864"/>
            <a:ext cx="2194560" cy="329184"/>
          </a:xfrm>
          <a:prstGeom prst="rect">
            <a:avLst/>
          </a:prstGeom>
          <a:solidFill>
            <a:srgbClr val="21295C">
              <a:alpha val="70000"/>
            </a:srgbClr>
          </a:solidFill>
          <a:ln w="9525">
            <a:solidFill>
              <a:srgbClr val="5FD3C4"/>
            </a:solidFill>
            <a:prstDash val="solid"/>
          </a:ln>
        </p:spPr>
      </p:sp>
      <p:sp>
        <p:nvSpPr>
          <p:cNvPr id="20" name="Shape 18"/>
          <p:cNvSpPr/>
          <p:nvPr/>
        </p:nvSpPr>
        <p:spPr>
          <a:xfrm>
            <a:off x="11247120" y="4745736"/>
            <a:ext cx="91440" cy="91440"/>
          </a:xfrm>
          <a:prstGeom prst="ellipse">
            <a:avLst/>
          </a:prstGeom>
          <a:solidFill>
            <a:srgbClr val="5FD3C4"/>
          </a:solidFill>
          <a:ln/>
        </p:spPr>
      </p:sp>
      <p:sp>
        <p:nvSpPr>
          <p:cNvPr id="21" name="Text 19"/>
          <p:cNvSpPr/>
          <p:nvPr/>
        </p:nvSpPr>
        <p:spPr>
          <a:xfrm>
            <a:off x="640080" y="1371600"/>
            <a:ext cx="6400800" cy="365760"/>
          </a:xfrm>
          <a:prstGeom prst="rect">
            <a:avLst/>
          </a:prstGeom>
          <a:noFill/>
          <a:ln/>
        </p:spPr>
        <p:txBody>
          <a:bodyPr wrap="square" rtlCol="0" anchor="ctr"/>
          <a:lstStyle/>
          <a:p>
            <a:pPr indent="0" marL="0">
              <a:buNone/>
            </a:pPr>
            <a:r>
              <a:rPr lang="en-US" sz="1400" b="1" spc="300" kern="0" dirty="0">
                <a:solidFill>
                  <a:srgbClr val="5FD3C4"/>
                </a:solidFill>
                <a:latin typeface="Calibri" pitchFamily="34" charset="0"/>
                <a:ea typeface="Calibri" pitchFamily="34" charset="-122"/>
                <a:cs typeface="Calibri" pitchFamily="34" charset="-120"/>
              </a:rPr>
              <a:t>CLOUD INFRASTRUCTURE</a:t>
            </a:r>
            <a:endParaRPr lang="en-US" sz="1400" dirty="0"/>
          </a:p>
        </p:txBody>
      </p:sp>
      <p:sp>
        <p:nvSpPr>
          <p:cNvPr id="22" name="Text 20"/>
          <p:cNvSpPr/>
          <p:nvPr/>
        </p:nvSpPr>
        <p:spPr>
          <a:xfrm>
            <a:off x="621792" y="1783080"/>
            <a:ext cx="7863840" cy="210312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The Role of Data Centers</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in Cloud Computing</a:t>
            </a:r>
            <a:endParaRPr lang="en-US" sz="4000" dirty="0"/>
          </a:p>
        </p:txBody>
      </p:sp>
      <p:sp>
        <p:nvSpPr>
          <p:cNvPr id="23" name="Text 21"/>
          <p:cNvSpPr/>
          <p:nvPr/>
        </p:nvSpPr>
        <p:spPr>
          <a:xfrm>
            <a:off x="640080" y="3886200"/>
            <a:ext cx="7132320" cy="54864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How physical infrastructure becomes on-demand, global-scale cloud service</a:t>
            </a:r>
            <a:endParaRPr lang="en-US" sz="1600" dirty="0"/>
          </a:p>
        </p:txBody>
      </p:sp>
      <p:sp>
        <p:nvSpPr>
          <p:cNvPr id="24" name="Shape 22"/>
          <p:cNvSpPr/>
          <p:nvPr/>
        </p:nvSpPr>
        <p:spPr>
          <a:xfrm>
            <a:off x="640080" y="4617720"/>
            <a:ext cx="1005840" cy="0"/>
          </a:xfrm>
          <a:prstGeom prst="line">
            <a:avLst/>
          </a:prstGeom>
          <a:noFill/>
          <a:ln w="31750">
            <a:solidFill>
              <a:srgbClr val="5FD3C4"/>
            </a:solidFill>
            <a:prstDash val="solid"/>
          </a:ln>
        </p:spPr>
      </p:sp>
      <p:sp>
        <p:nvSpPr>
          <p:cNvPr id="25" name="Text 23"/>
          <p:cNvSpPr/>
          <p:nvPr/>
        </p:nvSpPr>
        <p:spPr>
          <a:xfrm>
            <a:off x="640080" y="4800600"/>
            <a:ext cx="7315200" cy="36576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 6–8 minute briefing  •  Definitions · Architecture · Industry Relevance · Practical Example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OVERVIEW</a:t>
            </a:r>
            <a:endParaRPr lang="en-US" sz="1300" dirty="0"/>
          </a:p>
        </p:txBody>
      </p:sp>
      <p:sp>
        <p:nvSpPr>
          <p:cNvPr id="3" name="Text 1"/>
          <p:cNvSpPr/>
          <p:nvPr/>
        </p:nvSpPr>
        <p:spPr>
          <a:xfrm>
            <a:off x="548640" y="685800"/>
            <a:ext cx="73152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What We’ll Cover</a:t>
            </a:r>
            <a:endParaRPr lang="en-US" sz="3200" dirty="0"/>
          </a:p>
        </p:txBody>
      </p:sp>
      <p:sp>
        <p:nvSpPr>
          <p:cNvPr id="4" name="Shape 2"/>
          <p:cNvSpPr/>
          <p:nvPr/>
        </p:nvSpPr>
        <p:spPr>
          <a:xfrm>
            <a:off x="548640" y="1965960"/>
            <a:ext cx="2606040" cy="3566160"/>
          </a:xfrm>
          <a:prstGeom prst="roundRect">
            <a:avLst>
              <a:gd name="adj" fmla="val 3509"/>
            </a:avLst>
          </a:prstGeom>
          <a:solidFill>
            <a:srgbClr val="F4F8FA"/>
          </a:solidFill>
          <a:ln/>
          <a:effectLst>
            <a:outerShdw sx="100000" sy="100000" kx="0" ky="0" algn="bl" rotWithShape="0" blurRad="76200" dist="25400" dir="5400000">
              <a:srgbClr val="000000">
                <a:alpha val="12000"/>
              </a:srgbClr>
            </a:outerShdw>
          </a:effectLst>
        </p:spPr>
      </p:sp>
      <p:sp>
        <p:nvSpPr>
          <p:cNvPr id="5" name="Shape 3"/>
          <p:cNvSpPr/>
          <p:nvPr/>
        </p:nvSpPr>
        <p:spPr>
          <a:xfrm>
            <a:off x="804672" y="2240280"/>
            <a:ext cx="566928" cy="566928"/>
          </a:xfrm>
          <a:prstGeom prst="ellipse">
            <a:avLst/>
          </a:prstGeom>
          <a:solidFill>
            <a:srgbClr val="065A82"/>
          </a:solidFill>
          <a:ln/>
        </p:spPr>
      </p:sp>
      <p:pic>
        <p:nvPicPr>
          <p:cNvPr id="6" name="Image 0" descr="/home/claude/dc_deck/icon_layers.png">    </p:cNvPr>
          <p:cNvPicPr>
            <a:picLocks noChangeAspect="1"/>
          </p:cNvPicPr>
          <p:nvPr/>
        </p:nvPicPr>
        <p:blipFill>
          <a:blip r:embed="rId1"/>
          <a:stretch>
            <a:fillRect/>
          </a:stretch>
        </p:blipFill>
        <p:spPr>
          <a:xfrm>
            <a:off x="929396" y="2365004"/>
            <a:ext cx="317480" cy="317480"/>
          </a:xfrm>
          <a:prstGeom prst="rect">
            <a:avLst/>
          </a:prstGeom>
        </p:spPr>
      </p:pic>
      <p:sp>
        <p:nvSpPr>
          <p:cNvPr id="7" name="Text 4"/>
          <p:cNvSpPr/>
          <p:nvPr/>
        </p:nvSpPr>
        <p:spPr>
          <a:xfrm>
            <a:off x="777240" y="3017520"/>
            <a:ext cx="214884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01  Definitions</a:t>
            </a:r>
            <a:endParaRPr lang="en-US" sz="1600" dirty="0"/>
          </a:p>
        </p:txBody>
      </p:sp>
      <p:sp>
        <p:nvSpPr>
          <p:cNvPr id="8" name="Text 5"/>
          <p:cNvSpPr/>
          <p:nvPr/>
        </p:nvSpPr>
        <p:spPr>
          <a:xfrm>
            <a:off x="777240" y="3474720"/>
            <a:ext cx="2148840" cy="1828800"/>
          </a:xfrm>
          <a:prstGeom prst="rect">
            <a:avLst/>
          </a:prstGeom>
          <a:noFill/>
          <a:ln/>
        </p:spPr>
        <p:txBody>
          <a:bodyPr wrap="square" rtlCol="0" anchor="ctr"/>
          <a:lstStyle/>
          <a:p>
            <a:pPr indent="0" marL="0">
              <a:lnSpc>
                <a:spcPct val="125000"/>
              </a:lnSpc>
              <a:buNone/>
            </a:pPr>
            <a:r>
              <a:rPr lang="en-US" sz="1250" dirty="0">
                <a:solidFill>
                  <a:srgbClr val="5B6B75"/>
                </a:solidFill>
                <a:latin typeface="Calibri" pitchFamily="34" charset="0"/>
                <a:ea typeface="Calibri" pitchFamily="34" charset="-122"/>
                <a:cs typeface="Calibri" pitchFamily="34" charset="-120"/>
              </a:rPr>
              <a:t>What a data center is, and what "the cloud" really means.</a:t>
            </a:r>
            <a:endParaRPr lang="en-US" sz="1250" dirty="0"/>
          </a:p>
        </p:txBody>
      </p:sp>
      <p:sp>
        <p:nvSpPr>
          <p:cNvPr id="9" name="Shape 6"/>
          <p:cNvSpPr/>
          <p:nvPr/>
        </p:nvSpPr>
        <p:spPr>
          <a:xfrm>
            <a:off x="3447288" y="1965960"/>
            <a:ext cx="2606040" cy="3566160"/>
          </a:xfrm>
          <a:prstGeom prst="roundRect">
            <a:avLst>
              <a:gd name="adj" fmla="val 3509"/>
            </a:avLst>
          </a:prstGeom>
          <a:solidFill>
            <a:srgbClr val="F4F8FA"/>
          </a:solidFill>
          <a:ln/>
          <a:effectLst>
            <a:outerShdw sx="100000" sy="100000" kx="0" ky="0" algn="bl" rotWithShape="0" blurRad="76200" dist="25400" dir="5400000">
              <a:srgbClr val="000000">
                <a:alpha val="12000"/>
              </a:srgbClr>
            </a:outerShdw>
          </a:effectLst>
        </p:spPr>
      </p:sp>
      <p:sp>
        <p:nvSpPr>
          <p:cNvPr id="10" name="Shape 7"/>
          <p:cNvSpPr/>
          <p:nvPr/>
        </p:nvSpPr>
        <p:spPr>
          <a:xfrm>
            <a:off x="3703320" y="2240280"/>
            <a:ext cx="566928" cy="566928"/>
          </a:xfrm>
          <a:prstGeom prst="ellipse">
            <a:avLst/>
          </a:prstGeom>
          <a:solidFill>
            <a:srgbClr val="1C7293"/>
          </a:solidFill>
          <a:ln/>
        </p:spPr>
      </p:sp>
      <p:pic>
        <p:nvPicPr>
          <p:cNvPr id="11" name="Image 1" descr="/home/claude/dc_deck/icon_server.png">    </p:cNvPr>
          <p:cNvPicPr>
            <a:picLocks noChangeAspect="1"/>
          </p:cNvPicPr>
          <p:nvPr/>
        </p:nvPicPr>
        <p:blipFill>
          <a:blip r:embed="rId2"/>
          <a:stretch>
            <a:fillRect/>
          </a:stretch>
        </p:blipFill>
        <p:spPr>
          <a:xfrm>
            <a:off x="3828044" y="2365004"/>
            <a:ext cx="317480" cy="317480"/>
          </a:xfrm>
          <a:prstGeom prst="rect">
            <a:avLst/>
          </a:prstGeom>
        </p:spPr>
      </p:pic>
      <p:sp>
        <p:nvSpPr>
          <p:cNvPr id="12" name="Text 8"/>
          <p:cNvSpPr/>
          <p:nvPr/>
        </p:nvSpPr>
        <p:spPr>
          <a:xfrm>
            <a:off x="3675888" y="3017520"/>
            <a:ext cx="214884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02  Architecture</a:t>
            </a:r>
            <a:endParaRPr lang="en-US" sz="1600" dirty="0"/>
          </a:p>
        </p:txBody>
      </p:sp>
      <p:sp>
        <p:nvSpPr>
          <p:cNvPr id="13" name="Text 9"/>
          <p:cNvSpPr/>
          <p:nvPr/>
        </p:nvSpPr>
        <p:spPr>
          <a:xfrm>
            <a:off x="3675888" y="3474720"/>
            <a:ext cx="2148840" cy="1828800"/>
          </a:xfrm>
          <a:prstGeom prst="rect">
            <a:avLst/>
          </a:prstGeom>
          <a:noFill/>
          <a:ln/>
        </p:spPr>
        <p:txBody>
          <a:bodyPr wrap="square" rtlCol="0" anchor="ctr"/>
          <a:lstStyle/>
          <a:p>
            <a:pPr indent="0" marL="0">
              <a:lnSpc>
                <a:spcPct val="125000"/>
              </a:lnSpc>
              <a:buNone/>
            </a:pPr>
            <a:r>
              <a:rPr lang="en-US" sz="1250" dirty="0">
                <a:solidFill>
                  <a:srgbClr val="5B6B75"/>
                </a:solidFill>
                <a:latin typeface="Calibri" pitchFamily="34" charset="0"/>
                <a:ea typeface="Calibri" pitchFamily="34" charset="-122"/>
                <a:cs typeface="Calibri" pitchFamily="34" charset="-120"/>
              </a:rPr>
              <a:t>The physical and logical layers that make a data center run.</a:t>
            </a:r>
            <a:endParaRPr lang="en-US" sz="1250" dirty="0"/>
          </a:p>
        </p:txBody>
      </p:sp>
      <p:sp>
        <p:nvSpPr>
          <p:cNvPr id="14" name="Shape 10"/>
          <p:cNvSpPr/>
          <p:nvPr/>
        </p:nvSpPr>
        <p:spPr>
          <a:xfrm>
            <a:off x="6345936" y="1965960"/>
            <a:ext cx="2606040" cy="3566160"/>
          </a:xfrm>
          <a:prstGeom prst="roundRect">
            <a:avLst>
              <a:gd name="adj" fmla="val 3509"/>
            </a:avLst>
          </a:prstGeom>
          <a:solidFill>
            <a:srgbClr val="F4F8FA"/>
          </a:solidFill>
          <a:ln/>
          <a:effectLst>
            <a:outerShdw sx="100000" sy="100000" kx="0" ky="0" algn="bl" rotWithShape="0" blurRad="76200" dist="25400" dir="5400000">
              <a:srgbClr val="000000">
                <a:alpha val="12000"/>
              </a:srgbClr>
            </a:outerShdw>
          </a:effectLst>
        </p:spPr>
      </p:sp>
      <p:sp>
        <p:nvSpPr>
          <p:cNvPr id="15" name="Shape 11"/>
          <p:cNvSpPr/>
          <p:nvPr/>
        </p:nvSpPr>
        <p:spPr>
          <a:xfrm>
            <a:off x="6601968" y="2240280"/>
            <a:ext cx="566928" cy="566928"/>
          </a:xfrm>
          <a:prstGeom prst="ellipse">
            <a:avLst/>
          </a:prstGeom>
          <a:solidFill>
            <a:srgbClr val="065A82"/>
          </a:solidFill>
          <a:ln/>
        </p:spPr>
      </p:sp>
      <p:pic>
        <p:nvPicPr>
          <p:cNvPr id="16" name="Image 2" descr="/home/claude/dc_deck/icon_globe.png">    </p:cNvPr>
          <p:cNvPicPr>
            <a:picLocks noChangeAspect="1"/>
          </p:cNvPicPr>
          <p:nvPr/>
        </p:nvPicPr>
        <p:blipFill>
          <a:blip r:embed="rId3"/>
          <a:stretch>
            <a:fillRect/>
          </a:stretch>
        </p:blipFill>
        <p:spPr>
          <a:xfrm>
            <a:off x="6726692" y="2365004"/>
            <a:ext cx="317480" cy="317480"/>
          </a:xfrm>
          <a:prstGeom prst="rect">
            <a:avLst/>
          </a:prstGeom>
        </p:spPr>
      </p:pic>
      <p:sp>
        <p:nvSpPr>
          <p:cNvPr id="17" name="Text 12"/>
          <p:cNvSpPr/>
          <p:nvPr/>
        </p:nvSpPr>
        <p:spPr>
          <a:xfrm>
            <a:off x="6574536" y="3017520"/>
            <a:ext cx="214884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03  Industry Relevance</a:t>
            </a:r>
            <a:endParaRPr lang="en-US" sz="1600" dirty="0"/>
          </a:p>
        </p:txBody>
      </p:sp>
      <p:sp>
        <p:nvSpPr>
          <p:cNvPr id="18" name="Text 13"/>
          <p:cNvSpPr/>
          <p:nvPr/>
        </p:nvSpPr>
        <p:spPr>
          <a:xfrm>
            <a:off x="6574536" y="3474720"/>
            <a:ext cx="2148840" cy="1828800"/>
          </a:xfrm>
          <a:prstGeom prst="rect">
            <a:avLst/>
          </a:prstGeom>
          <a:noFill/>
          <a:ln/>
        </p:spPr>
        <p:txBody>
          <a:bodyPr wrap="square" rtlCol="0" anchor="ctr"/>
          <a:lstStyle/>
          <a:p>
            <a:pPr indent="0" marL="0">
              <a:lnSpc>
                <a:spcPct val="125000"/>
              </a:lnSpc>
              <a:buNone/>
            </a:pPr>
            <a:r>
              <a:rPr lang="en-US" sz="1250" dirty="0">
                <a:solidFill>
                  <a:srgbClr val="5B6B75"/>
                </a:solidFill>
                <a:latin typeface="Calibri" pitchFamily="34" charset="0"/>
                <a:ea typeface="Calibri" pitchFamily="34" charset="-122"/>
                <a:cs typeface="Calibri" pitchFamily="34" charset="-120"/>
              </a:rPr>
              <a:t>Why data centers are the fastest-growing category of infrastructure spend.</a:t>
            </a:r>
            <a:endParaRPr lang="en-US" sz="1250" dirty="0"/>
          </a:p>
        </p:txBody>
      </p:sp>
      <p:sp>
        <p:nvSpPr>
          <p:cNvPr id="19" name="Shape 14"/>
          <p:cNvSpPr/>
          <p:nvPr/>
        </p:nvSpPr>
        <p:spPr>
          <a:xfrm>
            <a:off x="9244584" y="1965960"/>
            <a:ext cx="2606040" cy="3566160"/>
          </a:xfrm>
          <a:prstGeom prst="roundRect">
            <a:avLst>
              <a:gd name="adj" fmla="val 3509"/>
            </a:avLst>
          </a:prstGeom>
          <a:solidFill>
            <a:srgbClr val="F4F8FA"/>
          </a:solidFill>
          <a:ln/>
          <a:effectLst>
            <a:outerShdw sx="100000" sy="100000" kx="0" ky="0" algn="bl" rotWithShape="0" blurRad="76200" dist="25400" dir="5400000">
              <a:srgbClr val="000000">
                <a:alpha val="12000"/>
              </a:srgbClr>
            </a:outerShdw>
          </a:effectLst>
        </p:spPr>
      </p:sp>
      <p:sp>
        <p:nvSpPr>
          <p:cNvPr id="20" name="Shape 15"/>
          <p:cNvSpPr/>
          <p:nvPr/>
        </p:nvSpPr>
        <p:spPr>
          <a:xfrm>
            <a:off x="9500616" y="2240280"/>
            <a:ext cx="566928" cy="566928"/>
          </a:xfrm>
          <a:prstGeom prst="ellipse">
            <a:avLst/>
          </a:prstGeom>
          <a:solidFill>
            <a:srgbClr val="1C7293"/>
          </a:solidFill>
          <a:ln/>
        </p:spPr>
      </p:sp>
      <p:pic>
        <p:nvPicPr>
          <p:cNvPr id="21" name="Image 3" descr="/home/claude/dc_deck/icon_film.png">    </p:cNvPr>
          <p:cNvPicPr>
            <a:picLocks noChangeAspect="1"/>
          </p:cNvPicPr>
          <p:nvPr/>
        </p:nvPicPr>
        <p:blipFill>
          <a:blip r:embed="rId4"/>
          <a:stretch>
            <a:fillRect/>
          </a:stretch>
        </p:blipFill>
        <p:spPr>
          <a:xfrm>
            <a:off x="9625340" y="2365004"/>
            <a:ext cx="317480" cy="317480"/>
          </a:xfrm>
          <a:prstGeom prst="rect">
            <a:avLst/>
          </a:prstGeom>
        </p:spPr>
      </p:pic>
      <p:sp>
        <p:nvSpPr>
          <p:cNvPr id="22" name="Text 16"/>
          <p:cNvSpPr/>
          <p:nvPr/>
        </p:nvSpPr>
        <p:spPr>
          <a:xfrm>
            <a:off x="9473184" y="3017520"/>
            <a:ext cx="2148840" cy="457200"/>
          </a:xfrm>
          <a:prstGeom prst="rect">
            <a:avLst/>
          </a:prstGeom>
          <a:noFill/>
          <a:ln/>
        </p:spPr>
        <p:txBody>
          <a:bodyPr wrap="square"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04  Practical Example</a:t>
            </a:r>
            <a:endParaRPr lang="en-US" sz="1600" dirty="0"/>
          </a:p>
        </p:txBody>
      </p:sp>
      <p:sp>
        <p:nvSpPr>
          <p:cNvPr id="23" name="Text 17"/>
          <p:cNvSpPr/>
          <p:nvPr/>
        </p:nvSpPr>
        <p:spPr>
          <a:xfrm>
            <a:off x="9473184" y="3474720"/>
            <a:ext cx="2148840" cy="1828800"/>
          </a:xfrm>
          <a:prstGeom prst="rect">
            <a:avLst/>
          </a:prstGeom>
          <a:noFill/>
          <a:ln/>
        </p:spPr>
        <p:txBody>
          <a:bodyPr wrap="square" rtlCol="0" anchor="ctr"/>
          <a:lstStyle/>
          <a:p>
            <a:pPr indent="0" marL="0">
              <a:lnSpc>
                <a:spcPct val="125000"/>
              </a:lnSpc>
              <a:buNone/>
            </a:pPr>
            <a:r>
              <a:rPr lang="en-US" sz="1250" dirty="0">
                <a:solidFill>
                  <a:srgbClr val="5B6B75"/>
                </a:solidFill>
                <a:latin typeface="Calibri" pitchFamily="34" charset="0"/>
                <a:ea typeface="Calibri" pitchFamily="34" charset="-122"/>
                <a:cs typeface="Calibri" pitchFamily="34" charset="-120"/>
              </a:rPr>
              <a:t>How a global streaming service depends on data centers every second.</a:t>
            </a:r>
            <a:endParaRPr lang="en-US" sz="1250" dirty="0"/>
          </a:p>
        </p:txBody>
      </p:sp>
      <p:sp>
        <p:nvSpPr>
          <p:cNvPr id="24"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DEFINITIONS</a:t>
            </a:r>
            <a:endParaRPr lang="en-US" sz="1300" dirty="0"/>
          </a:p>
        </p:txBody>
      </p:sp>
      <p:sp>
        <p:nvSpPr>
          <p:cNvPr id="3" name="Text 1"/>
          <p:cNvSpPr/>
          <p:nvPr/>
        </p:nvSpPr>
        <p:spPr>
          <a:xfrm>
            <a:off x="548640" y="685800"/>
            <a:ext cx="8229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Two Terms, One System</a:t>
            </a:r>
            <a:endParaRPr lang="en-US" sz="3200" dirty="0"/>
          </a:p>
        </p:txBody>
      </p:sp>
      <p:sp>
        <p:nvSpPr>
          <p:cNvPr id="4" name="Shape 2"/>
          <p:cNvSpPr/>
          <p:nvPr/>
        </p:nvSpPr>
        <p:spPr>
          <a:xfrm>
            <a:off x="548640" y="1737360"/>
            <a:ext cx="5349240" cy="4160520"/>
          </a:xfrm>
          <a:prstGeom prst="roundRect">
            <a:avLst>
              <a:gd name="adj" fmla="val 2198"/>
            </a:avLst>
          </a:prstGeom>
          <a:solidFill>
            <a:srgbClr val="21295C"/>
          </a:solidFill>
          <a:ln/>
        </p:spPr>
      </p:sp>
      <p:sp>
        <p:nvSpPr>
          <p:cNvPr id="5" name="Shape 3"/>
          <p:cNvSpPr/>
          <p:nvPr/>
        </p:nvSpPr>
        <p:spPr>
          <a:xfrm>
            <a:off x="914400" y="2103120"/>
            <a:ext cx="640080" cy="640080"/>
          </a:xfrm>
          <a:prstGeom prst="ellipse">
            <a:avLst/>
          </a:prstGeom>
          <a:solidFill>
            <a:srgbClr val="1C7293"/>
          </a:solidFill>
          <a:ln/>
        </p:spPr>
      </p:sp>
      <p:pic>
        <p:nvPicPr>
          <p:cNvPr id="6" name="Image 0" descr="/home/claude/dc_deck/icon_building.png">    </p:cNvPr>
          <p:cNvPicPr>
            <a:picLocks noChangeAspect="1"/>
          </p:cNvPicPr>
          <p:nvPr/>
        </p:nvPicPr>
        <p:blipFill>
          <a:blip r:embed="rId1"/>
          <a:stretch>
            <a:fillRect/>
          </a:stretch>
        </p:blipFill>
        <p:spPr>
          <a:xfrm>
            <a:off x="1055218" y="2243938"/>
            <a:ext cx="358445" cy="358445"/>
          </a:xfrm>
          <a:prstGeom prst="rect">
            <a:avLst/>
          </a:prstGeom>
        </p:spPr>
      </p:pic>
      <p:sp>
        <p:nvSpPr>
          <p:cNvPr id="7" name="Text 4"/>
          <p:cNvSpPr/>
          <p:nvPr/>
        </p:nvSpPr>
        <p:spPr>
          <a:xfrm>
            <a:off x="1737360" y="2148840"/>
            <a:ext cx="3657600" cy="54864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Data Center</a:t>
            </a:r>
            <a:endParaRPr lang="en-US" sz="2000" dirty="0"/>
          </a:p>
        </p:txBody>
      </p:sp>
      <p:sp>
        <p:nvSpPr>
          <p:cNvPr id="8" name="Text 5"/>
          <p:cNvSpPr/>
          <p:nvPr/>
        </p:nvSpPr>
        <p:spPr>
          <a:xfrm>
            <a:off x="914400" y="2971800"/>
            <a:ext cx="4617720" cy="1371600"/>
          </a:xfrm>
          <a:prstGeom prst="rect">
            <a:avLst/>
          </a:prstGeom>
          <a:noFill/>
          <a:ln/>
        </p:spPr>
        <p:txBody>
          <a:bodyPr wrap="square" rtlCol="0" anchor="ctr"/>
          <a:lstStyle/>
          <a:p>
            <a:pPr indent="0" marL="0">
              <a:lnSpc>
                <a:spcPct val="130000"/>
              </a:lnSpc>
              <a:buNone/>
            </a:pPr>
            <a:r>
              <a:rPr lang="en-US" sz="1400" dirty="0">
                <a:solidFill>
                  <a:srgbClr val="CADCFC"/>
                </a:solidFill>
                <a:latin typeface="Calibri" pitchFamily="34" charset="0"/>
                <a:ea typeface="Calibri" pitchFamily="34" charset="-122"/>
                <a:cs typeface="Calibri" pitchFamily="34" charset="-120"/>
              </a:rPr>
              <a:t>A physical facility that houses servers, storage, and networking equipment, along with the power, cooling, and security systems required to keep them running continuously.</a:t>
            </a:r>
            <a:endParaRPr lang="en-US" sz="1400" dirty="0"/>
          </a:p>
        </p:txBody>
      </p:sp>
      <p:sp>
        <p:nvSpPr>
          <p:cNvPr id="9" name="Shape 6"/>
          <p:cNvSpPr/>
          <p:nvPr/>
        </p:nvSpPr>
        <p:spPr>
          <a:xfrm>
            <a:off x="914400" y="4434840"/>
            <a:ext cx="4617720" cy="0"/>
          </a:xfrm>
          <a:prstGeom prst="line">
            <a:avLst/>
          </a:prstGeom>
          <a:noFill/>
          <a:ln w="12700">
            <a:solidFill>
              <a:srgbClr val="1C7293"/>
            </a:solidFill>
            <a:prstDash val="dash"/>
          </a:ln>
        </p:spPr>
      </p:sp>
      <p:sp>
        <p:nvSpPr>
          <p:cNvPr id="10" name="Text 7"/>
          <p:cNvSpPr/>
          <p:nvPr/>
        </p:nvSpPr>
        <p:spPr>
          <a:xfrm>
            <a:off x="914400" y="4617720"/>
            <a:ext cx="4617720" cy="1097280"/>
          </a:xfrm>
          <a:prstGeom prst="rect">
            <a:avLst/>
          </a:prstGeom>
          <a:noFill/>
          <a:ln/>
        </p:spPr>
        <p:txBody>
          <a:bodyPr wrap="square" rtlCol="0" anchor="ctr"/>
          <a:lstStyle/>
          <a:p>
            <a:pPr indent="0" marL="0">
              <a:buNone/>
            </a:pPr>
            <a:r>
              <a:rPr lang="en-US" sz="1300" i="1" dirty="0">
                <a:solidFill>
                  <a:srgbClr val="5FD3C4"/>
                </a:solidFill>
                <a:latin typeface="Calibri" pitchFamily="34" charset="0"/>
                <a:ea typeface="Calibri" pitchFamily="34" charset="-122"/>
                <a:cs typeface="Calibri" pitchFamily="34" charset="-120"/>
              </a:rPr>
              <a:t>Think: the building, the hardware, the electricity.</a:t>
            </a:r>
            <a:endParaRPr lang="en-US" sz="1300" dirty="0"/>
          </a:p>
        </p:txBody>
      </p:sp>
      <p:sp>
        <p:nvSpPr>
          <p:cNvPr id="11" name="Shape 8"/>
          <p:cNvSpPr/>
          <p:nvPr/>
        </p:nvSpPr>
        <p:spPr>
          <a:xfrm>
            <a:off x="6263640" y="1737360"/>
            <a:ext cx="5349240" cy="4160520"/>
          </a:xfrm>
          <a:prstGeom prst="roundRect">
            <a:avLst>
              <a:gd name="adj" fmla="val 2198"/>
            </a:avLst>
          </a:prstGeom>
          <a:solidFill>
            <a:srgbClr val="F4F8FA"/>
          </a:solidFill>
          <a:ln/>
        </p:spPr>
      </p:sp>
      <p:sp>
        <p:nvSpPr>
          <p:cNvPr id="12" name="Shape 9"/>
          <p:cNvSpPr/>
          <p:nvPr/>
        </p:nvSpPr>
        <p:spPr>
          <a:xfrm>
            <a:off x="6629400" y="2103120"/>
            <a:ext cx="640080" cy="640080"/>
          </a:xfrm>
          <a:prstGeom prst="ellipse">
            <a:avLst/>
          </a:prstGeom>
          <a:solidFill>
            <a:srgbClr val="065A82"/>
          </a:solidFill>
          <a:ln/>
        </p:spPr>
      </p:sp>
      <p:pic>
        <p:nvPicPr>
          <p:cNvPr id="13" name="Image 1" descr="/home/claude/dc_deck/icon_cloud.png">    </p:cNvPr>
          <p:cNvPicPr>
            <a:picLocks noChangeAspect="1"/>
          </p:cNvPicPr>
          <p:nvPr/>
        </p:nvPicPr>
        <p:blipFill>
          <a:blip r:embed="rId2"/>
          <a:stretch>
            <a:fillRect/>
          </a:stretch>
        </p:blipFill>
        <p:spPr>
          <a:xfrm>
            <a:off x="6770218" y="2243938"/>
            <a:ext cx="358445" cy="358445"/>
          </a:xfrm>
          <a:prstGeom prst="rect">
            <a:avLst/>
          </a:prstGeom>
        </p:spPr>
      </p:pic>
      <p:sp>
        <p:nvSpPr>
          <p:cNvPr id="14" name="Text 10"/>
          <p:cNvSpPr/>
          <p:nvPr/>
        </p:nvSpPr>
        <p:spPr>
          <a:xfrm>
            <a:off x="7452360" y="2148840"/>
            <a:ext cx="3840480" cy="548640"/>
          </a:xfrm>
          <a:prstGeom prst="rect">
            <a:avLst/>
          </a:prstGeom>
          <a:noFill/>
          <a:ln/>
        </p:spPr>
        <p:txBody>
          <a:bodyPr wrap="square" rtlCol="0" anchor="ctr"/>
          <a:lstStyle/>
          <a:p>
            <a:pPr indent="0" marL="0">
              <a:buNone/>
            </a:pPr>
            <a:r>
              <a:rPr lang="en-US" sz="2000" b="1" dirty="0">
                <a:solidFill>
                  <a:srgbClr val="1B2430"/>
                </a:solidFill>
                <a:latin typeface="Cambria" pitchFamily="34" charset="0"/>
                <a:ea typeface="Cambria" pitchFamily="34" charset="-122"/>
                <a:cs typeface="Cambria" pitchFamily="34" charset="-120"/>
              </a:rPr>
              <a:t>Cloud Computing</a:t>
            </a:r>
            <a:endParaRPr lang="en-US" sz="2000" dirty="0"/>
          </a:p>
        </p:txBody>
      </p:sp>
      <p:sp>
        <p:nvSpPr>
          <p:cNvPr id="15" name="Text 11"/>
          <p:cNvSpPr/>
          <p:nvPr/>
        </p:nvSpPr>
        <p:spPr>
          <a:xfrm>
            <a:off x="6629400" y="2971800"/>
            <a:ext cx="4617720" cy="1371600"/>
          </a:xfrm>
          <a:prstGeom prst="rect">
            <a:avLst/>
          </a:prstGeom>
          <a:noFill/>
          <a:ln/>
        </p:spPr>
        <p:txBody>
          <a:bodyPr wrap="square" rtlCol="0" anchor="ctr"/>
          <a:lstStyle/>
          <a:p>
            <a:pPr indent="0" marL="0">
              <a:lnSpc>
                <a:spcPct val="130000"/>
              </a:lnSpc>
              <a:buNone/>
            </a:pPr>
            <a:r>
              <a:rPr lang="en-US" sz="1400" dirty="0">
                <a:solidFill>
                  <a:srgbClr val="1B2430"/>
                </a:solidFill>
                <a:latin typeface="Calibri" pitchFamily="34" charset="0"/>
                <a:ea typeface="Calibri" pitchFamily="34" charset="-122"/>
                <a:cs typeface="Calibri" pitchFamily="34" charset="-120"/>
              </a:rPr>
              <a:t>The delivery of computing, storage, and software as an on-demand, metered service over the internet, without the user managing the underlying physical hardware.</a:t>
            </a:r>
            <a:endParaRPr lang="en-US" sz="1400" dirty="0"/>
          </a:p>
        </p:txBody>
      </p:sp>
      <p:sp>
        <p:nvSpPr>
          <p:cNvPr id="16" name="Shape 12"/>
          <p:cNvSpPr/>
          <p:nvPr/>
        </p:nvSpPr>
        <p:spPr>
          <a:xfrm>
            <a:off x="6629400" y="4434840"/>
            <a:ext cx="4617720" cy="0"/>
          </a:xfrm>
          <a:prstGeom prst="line">
            <a:avLst/>
          </a:prstGeom>
          <a:noFill/>
          <a:ln w="12700">
            <a:solidFill>
              <a:srgbClr val="065A82"/>
            </a:solidFill>
            <a:prstDash val="dash"/>
          </a:ln>
        </p:spPr>
      </p:sp>
      <p:sp>
        <p:nvSpPr>
          <p:cNvPr id="17" name="Text 13"/>
          <p:cNvSpPr/>
          <p:nvPr/>
        </p:nvSpPr>
        <p:spPr>
          <a:xfrm>
            <a:off x="6629400" y="4617720"/>
            <a:ext cx="4617720" cy="1097280"/>
          </a:xfrm>
          <a:prstGeom prst="rect">
            <a:avLst/>
          </a:prstGeom>
          <a:noFill/>
          <a:ln/>
        </p:spPr>
        <p:txBody>
          <a:bodyPr wrap="square" rtlCol="0" anchor="ctr"/>
          <a:lstStyle/>
          <a:p>
            <a:pPr indent="0" marL="0">
              <a:buNone/>
            </a:pPr>
            <a:r>
              <a:rPr lang="en-US" sz="1300" i="1" dirty="0">
                <a:solidFill>
                  <a:srgbClr val="1C7293"/>
                </a:solidFill>
                <a:latin typeface="Calibri" pitchFamily="34" charset="0"/>
                <a:ea typeface="Calibri" pitchFamily="34" charset="-122"/>
                <a:cs typeface="Calibri" pitchFamily="34" charset="-120"/>
              </a:rPr>
              <a:t>Think: the service, the software, the experience.</a:t>
            </a:r>
            <a:endParaRPr lang="en-US" sz="1300" dirty="0"/>
          </a:p>
        </p:txBody>
      </p:sp>
      <p:sp>
        <p:nvSpPr>
          <p:cNvPr id="18" name="Text 14"/>
          <p:cNvSpPr/>
          <p:nvPr/>
        </p:nvSpPr>
        <p:spPr>
          <a:xfrm>
            <a:off x="548640" y="6053328"/>
            <a:ext cx="11064240" cy="457200"/>
          </a:xfrm>
          <a:prstGeom prst="rect">
            <a:avLst/>
          </a:prstGeom>
          <a:noFill/>
          <a:ln/>
        </p:spPr>
        <p:txBody>
          <a:bodyPr wrap="square" rtlCol="0" anchor="ctr"/>
          <a:lstStyle/>
          <a:p>
            <a:pPr algn="ctr" indent="0" marL="0">
              <a:buNone/>
            </a:pPr>
            <a:r>
              <a:rPr lang="en-US" sz="1350" b="1" dirty="0">
                <a:solidFill>
                  <a:srgbClr val="21295C"/>
                </a:solidFill>
                <a:latin typeface="Calibri" pitchFamily="34" charset="0"/>
                <a:ea typeface="Calibri" pitchFamily="34" charset="-122"/>
                <a:cs typeface="Calibri" pitchFamily="34" charset="-120"/>
              </a:rPr>
              <a:t>The data center is the "where" — cloud computing is the "what." One cannot exist without the other.</a:t>
            </a:r>
            <a:endParaRPr lang="en-US" sz="1350" dirty="0"/>
          </a:p>
        </p:txBody>
      </p:sp>
      <p:sp>
        <p:nvSpPr>
          <p:cNvPr id="19" name="Text 15"/>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548640" y="685800"/>
            <a:ext cx="10515600" cy="640080"/>
          </a:xfrm>
          <a:prstGeom prst="rect">
            <a:avLst/>
          </a:prstGeom>
          <a:noFill/>
          <a:ln/>
        </p:spPr>
        <p:txBody>
          <a:bodyPr wrap="square" rtlCol="0" anchor="ctr"/>
          <a:lstStyle/>
          <a:p>
            <a:pPr indent="0" marL="0">
              <a:buNone/>
            </a:pPr>
            <a:r>
              <a:rPr lang="en-US" sz="2700" b="1" dirty="0">
                <a:solidFill>
                  <a:srgbClr val="1B2430"/>
                </a:solidFill>
                <a:latin typeface="Cambria" pitchFamily="34" charset="0"/>
                <a:ea typeface="Cambria" pitchFamily="34" charset="-122"/>
                <a:cs typeface="Cambria" pitchFamily="34" charset="-120"/>
              </a:rPr>
              <a:t>Inside a Data Center: The Layers That Make It Work</a:t>
            </a:r>
            <a:endParaRPr lang="en-US" sz="2700" dirty="0"/>
          </a:p>
        </p:txBody>
      </p:sp>
      <p:sp>
        <p:nvSpPr>
          <p:cNvPr id="4" name="Shape 2"/>
          <p:cNvSpPr/>
          <p:nvPr/>
        </p:nvSpPr>
        <p:spPr>
          <a:xfrm>
            <a:off x="548640" y="1600200"/>
            <a:ext cx="3566160" cy="1965960"/>
          </a:xfrm>
          <a:prstGeom prst="roundRect">
            <a:avLst>
              <a:gd name="adj" fmla="val 4186"/>
            </a:avLst>
          </a:prstGeom>
          <a:solidFill>
            <a:srgbClr val="F4F8FA"/>
          </a:solidFill>
          <a:ln/>
        </p:spPr>
      </p:sp>
      <p:sp>
        <p:nvSpPr>
          <p:cNvPr id="5" name="Shape 3"/>
          <p:cNvSpPr/>
          <p:nvPr/>
        </p:nvSpPr>
        <p:spPr>
          <a:xfrm>
            <a:off x="749808" y="1819656"/>
            <a:ext cx="457200" cy="457200"/>
          </a:xfrm>
          <a:prstGeom prst="ellipse">
            <a:avLst/>
          </a:prstGeom>
          <a:solidFill>
            <a:srgbClr val="065A82"/>
          </a:solidFill>
          <a:ln/>
        </p:spPr>
      </p:sp>
      <p:pic>
        <p:nvPicPr>
          <p:cNvPr id="6" name="Image 0" descr="/home/claude/dc_deck/icon_bolt.png">    </p:cNvPr>
          <p:cNvPicPr>
            <a:picLocks noChangeAspect="1"/>
          </p:cNvPicPr>
          <p:nvPr/>
        </p:nvPicPr>
        <p:blipFill>
          <a:blip r:embed="rId1"/>
          <a:stretch>
            <a:fillRect/>
          </a:stretch>
        </p:blipFill>
        <p:spPr>
          <a:xfrm>
            <a:off x="852678" y="1922526"/>
            <a:ext cx="251460" cy="251460"/>
          </a:xfrm>
          <a:prstGeom prst="rect">
            <a:avLst/>
          </a:prstGeom>
        </p:spPr>
      </p:pic>
      <p:sp>
        <p:nvSpPr>
          <p:cNvPr id="7" name="Text 4"/>
          <p:cNvSpPr/>
          <p:nvPr/>
        </p:nvSpPr>
        <p:spPr>
          <a:xfrm>
            <a:off x="1325880" y="1783080"/>
            <a:ext cx="2606040" cy="502920"/>
          </a:xfrm>
          <a:prstGeom prst="rect">
            <a:avLst/>
          </a:prstGeom>
          <a:noFill/>
          <a:ln/>
        </p:spPr>
        <p:txBody>
          <a:bodyPr wrap="square"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Facility &amp; Power</a:t>
            </a:r>
            <a:endParaRPr lang="en-US" sz="1450" dirty="0"/>
          </a:p>
        </p:txBody>
      </p:sp>
      <p:sp>
        <p:nvSpPr>
          <p:cNvPr id="8" name="Text 5"/>
          <p:cNvSpPr/>
          <p:nvPr/>
        </p:nvSpPr>
        <p:spPr>
          <a:xfrm>
            <a:off x="749808" y="2404872"/>
            <a:ext cx="3163824" cy="1051560"/>
          </a:xfrm>
          <a:prstGeom prst="rect">
            <a:avLst/>
          </a:prstGeom>
          <a:noFill/>
          <a:ln/>
        </p:spPr>
        <p:txBody>
          <a:bodyPr wrap="square" rtlCol="0" anchor="ctr"/>
          <a:lstStyle/>
          <a:p>
            <a:pPr indent="0" marL="0">
              <a:lnSpc>
                <a:spcPct val="120000"/>
              </a:lnSpc>
              <a:buNone/>
            </a:pPr>
            <a:r>
              <a:rPr lang="en-US" sz="1150" dirty="0">
                <a:solidFill>
                  <a:srgbClr val="5B6B75"/>
                </a:solidFill>
                <a:latin typeface="Calibri" pitchFamily="34" charset="0"/>
                <a:ea typeface="Calibri" pitchFamily="34" charset="-122"/>
                <a:cs typeface="Calibri" pitchFamily="34" charset="-120"/>
              </a:rPr>
              <a:t>Building, redundant power feeds, backup generators, and uninterruptible power supplies (UPS).</a:t>
            </a:r>
            <a:endParaRPr lang="en-US" sz="1150" dirty="0"/>
          </a:p>
        </p:txBody>
      </p:sp>
      <p:sp>
        <p:nvSpPr>
          <p:cNvPr id="9" name="Shape 6"/>
          <p:cNvSpPr/>
          <p:nvPr/>
        </p:nvSpPr>
        <p:spPr>
          <a:xfrm>
            <a:off x="4343400" y="1600200"/>
            <a:ext cx="3566160" cy="1965960"/>
          </a:xfrm>
          <a:prstGeom prst="roundRect">
            <a:avLst>
              <a:gd name="adj" fmla="val 4186"/>
            </a:avLst>
          </a:prstGeom>
          <a:solidFill>
            <a:srgbClr val="F4F8FA"/>
          </a:solidFill>
          <a:ln/>
        </p:spPr>
      </p:sp>
      <p:sp>
        <p:nvSpPr>
          <p:cNvPr id="10" name="Shape 7"/>
          <p:cNvSpPr/>
          <p:nvPr/>
        </p:nvSpPr>
        <p:spPr>
          <a:xfrm>
            <a:off x="4544568" y="1819656"/>
            <a:ext cx="457200" cy="457200"/>
          </a:xfrm>
          <a:prstGeom prst="ellipse">
            <a:avLst/>
          </a:prstGeom>
          <a:solidFill>
            <a:srgbClr val="1C7293"/>
          </a:solidFill>
          <a:ln/>
        </p:spPr>
      </p:sp>
      <p:pic>
        <p:nvPicPr>
          <p:cNvPr id="11" name="Image 1" descr="/home/claude/dc_deck/icon_snowflake.png">    </p:cNvPr>
          <p:cNvPicPr>
            <a:picLocks noChangeAspect="1"/>
          </p:cNvPicPr>
          <p:nvPr/>
        </p:nvPicPr>
        <p:blipFill>
          <a:blip r:embed="rId2"/>
          <a:stretch>
            <a:fillRect/>
          </a:stretch>
        </p:blipFill>
        <p:spPr>
          <a:xfrm>
            <a:off x="4647438" y="1922526"/>
            <a:ext cx="251460" cy="251460"/>
          </a:xfrm>
          <a:prstGeom prst="rect">
            <a:avLst/>
          </a:prstGeom>
        </p:spPr>
      </p:pic>
      <p:sp>
        <p:nvSpPr>
          <p:cNvPr id="12" name="Text 8"/>
          <p:cNvSpPr/>
          <p:nvPr/>
        </p:nvSpPr>
        <p:spPr>
          <a:xfrm>
            <a:off x="5120640" y="1783080"/>
            <a:ext cx="2606040" cy="502920"/>
          </a:xfrm>
          <a:prstGeom prst="rect">
            <a:avLst/>
          </a:prstGeom>
          <a:noFill/>
          <a:ln/>
        </p:spPr>
        <p:txBody>
          <a:bodyPr wrap="square"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Cooling</a:t>
            </a:r>
            <a:endParaRPr lang="en-US" sz="1450" dirty="0"/>
          </a:p>
        </p:txBody>
      </p:sp>
      <p:sp>
        <p:nvSpPr>
          <p:cNvPr id="13" name="Text 9"/>
          <p:cNvSpPr/>
          <p:nvPr/>
        </p:nvSpPr>
        <p:spPr>
          <a:xfrm>
            <a:off x="4544568" y="2404872"/>
            <a:ext cx="3163824" cy="1051560"/>
          </a:xfrm>
          <a:prstGeom prst="rect">
            <a:avLst/>
          </a:prstGeom>
          <a:noFill/>
          <a:ln/>
        </p:spPr>
        <p:txBody>
          <a:bodyPr wrap="square" rtlCol="0" anchor="ctr"/>
          <a:lstStyle/>
          <a:p>
            <a:pPr indent="0" marL="0">
              <a:lnSpc>
                <a:spcPct val="120000"/>
              </a:lnSpc>
              <a:buNone/>
            </a:pPr>
            <a:r>
              <a:rPr lang="en-US" sz="1150" dirty="0">
                <a:solidFill>
                  <a:srgbClr val="5B6B75"/>
                </a:solidFill>
                <a:latin typeface="Calibri" pitchFamily="34" charset="0"/>
                <a:ea typeface="Calibri" pitchFamily="34" charset="-122"/>
                <a:cs typeface="Calibri" pitchFamily="34" charset="-120"/>
              </a:rPr>
              <a:t>Precision HVAC and liquid cooling keep dense racks of equipment within safe operating temperatures.</a:t>
            </a:r>
            <a:endParaRPr lang="en-US" sz="1150" dirty="0"/>
          </a:p>
        </p:txBody>
      </p:sp>
      <p:sp>
        <p:nvSpPr>
          <p:cNvPr id="14" name="Shape 10"/>
          <p:cNvSpPr/>
          <p:nvPr/>
        </p:nvSpPr>
        <p:spPr>
          <a:xfrm>
            <a:off x="8138160" y="1600200"/>
            <a:ext cx="3566160" cy="1965960"/>
          </a:xfrm>
          <a:prstGeom prst="roundRect">
            <a:avLst>
              <a:gd name="adj" fmla="val 4186"/>
            </a:avLst>
          </a:prstGeom>
          <a:solidFill>
            <a:srgbClr val="F4F8FA"/>
          </a:solidFill>
          <a:ln/>
        </p:spPr>
      </p:sp>
      <p:sp>
        <p:nvSpPr>
          <p:cNvPr id="15" name="Shape 11"/>
          <p:cNvSpPr/>
          <p:nvPr/>
        </p:nvSpPr>
        <p:spPr>
          <a:xfrm>
            <a:off x="8339328" y="1819656"/>
            <a:ext cx="457200" cy="457200"/>
          </a:xfrm>
          <a:prstGeom prst="ellipse">
            <a:avLst/>
          </a:prstGeom>
          <a:solidFill>
            <a:srgbClr val="065A82"/>
          </a:solidFill>
          <a:ln/>
        </p:spPr>
      </p:sp>
      <p:pic>
        <p:nvPicPr>
          <p:cNvPr id="16" name="Image 2" descr="/home/claude/dc_deck/icon_server.png">    </p:cNvPr>
          <p:cNvPicPr>
            <a:picLocks noChangeAspect="1"/>
          </p:cNvPicPr>
          <p:nvPr/>
        </p:nvPicPr>
        <p:blipFill>
          <a:blip r:embed="rId3"/>
          <a:stretch>
            <a:fillRect/>
          </a:stretch>
        </p:blipFill>
        <p:spPr>
          <a:xfrm>
            <a:off x="8442198" y="1922526"/>
            <a:ext cx="251460" cy="251460"/>
          </a:xfrm>
          <a:prstGeom prst="rect">
            <a:avLst/>
          </a:prstGeom>
        </p:spPr>
      </p:pic>
      <p:sp>
        <p:nvSpPr>
          <p:cNvPr id="17" name="Text 12"/>
          <p:cNvSpPr/>
          <p:nvPr/>
        </p:nvSpPr>
        <p:spPr>
          <a:xfrm>
            <a:off x="8915400" y="1783080"/>
            <a:ext cx="2606040" cy="502920"/>
          </a:xfrm>
          <a:prstGeom prst="rect">
            <a:avLst/>
          </a:prstGeom>
          <a:noFill/>
          <a:ln/>
        </p:spPr>
        <p:txBody>
          <a:bodyPr wrap="square"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Compute &amp; Storage</a:t>
            </a:r>
            <a:endParaRPr lang="en-US" sz="1450" dirty="0"/>
          </a:p>
        </p:txBody>
      </p:sp>
      <p:sp>
        <p:nvSpPr>
          <p:cNvPr id="18" name="Text 13"/>
          <p:cNvSpPr/>
          <p:nvPr/>
        </p:nvSpPr>
        <p:spPr>
          <a:xfrm>
            <a:off x="8339328" y="2404872"/>
            <a:ext cx="3163824" cy="1051560"/>
          </a:xfrm>
          <a:prstGeom prst="rect">
            <a:avLst/>
          </a:prstGeom>
          <a:noFill/>
          <a:ln/>
        </p:spPr>
        <p:txBody>
          <a:bodyPr wrap="square" rtlCol="0" anchor="ctr"/>
          <a:lstStyle/>
          <a:p>
            <a:pPr indent="0" marL="0">
              <a:lnSpc>
                <a:spcPct val="120000"/>
              </a:lnSpc>
              <a:buNone/>
            </a:pPr>
            <a:r>
              <a:rPr lang="en-US" sz="1150" dirty="0">
                <a:solidFill>
                  <a:srgbClr val="5B6B75"/>
                </a:solidFill>
                <a:latin typeface="Calibri" pitchFamily="34" charset="0"/>
                <a:ea typeface="Calibri" pitchFamily="34" charset="-122"/>
                <a:cs typeface="Calibri" pitchFamily="34" charset="-120"/>
              </a:rPr>
              <a:t>Physical servers (CPUs/GPUs) and storage arrays that actually run workloads and hold data.</a:t>
            </a:r>
            <a:endParaRPr lang="en-US" sz="1150" dirty="0"/>
          </a:p>
        </p:txBody>
      </p:sp>
      <p:sp>
        <p:nvSpPr>
          <p:cNvPr id="19" name="Shape 14"/>
          <p:cNvSpPr/>
          <p:nvPr/>
        </p:nvSpPr>
        <p:spPr>
          <a:xfrm>
            <a:off x="548640" y="3794760"/>
            <a:ext cx="3566160" cy="1965960"/>
          </a:xfrm>
          <a:prstGeom prst="roundRect">
            <a:avLst>
              <a:gd name="adj" fmla="val 4186"/>
            </a:avLst>
          </a:prstGeom>
          <a:solidFill>
            <a:srgbClr val="F4F8FA"/>
          </a:solidFill>
          <a:ln/>
        </p:spPr>
      </p:sp>
      <p:sp>
        <p:nvSpPr>
          <p:cNvPr id="20" name="Shape 15"/>
          <p:cNvSpPr/>
          <p:nvPr/>
        </p:nvSpPr>
        <p:spPr>
          <a:xfrm>
            <a:off x="749808" y="4014216"/>
            <a:ext cx="457200" cy="457200"/>
          </a:xfrm>
          <a:prstGeom prst="ellipse">
            <a:avLst/>
          </a:prstGeom>
          <a:solidFill>
            <a:srgbClr val="1C7293"/>
          </a:solidFill>
          <a:ln/>
        </p:spPr>
      </p:sp>
      <p:pic>
        <p:nvPicPr>
          <p:cNvPr id="21" name="Image 3" descr="/home/claude/dc_deck/icon_network.png">    </p:cNvPr>
          <p:cNvPicPr>
            <a:picLocks noChangeAspect="1"/>
          </p:cNvPicPr>
          <p:nvPr/>
        </p:nvPicPr>
        <p:blipFill>
          <a:blip r:embed="rId4"/>
          <a:stretch>
            <a:fillRect/>
          </a:stretch>
        </p:blipFill>
        <p:spPr>
          <a:xfrm>
            <a:off x="852678" y="4117086"/>
            <a:ext cx="251460" cy="251460"/>
          </a:xfrm>
          <a:prstGeom prst="rect">
            <a:avLst/>
          </a:prstGeom>
        </p:spPr>
      </p:pic>
      <p:sp>
        <p:nvSpPr>
          <p:cNvPr id="22" name="Text 16"/>
          <p:cNvSpPr/>
          <p:nvPr/>
        </p:nvSpPr>
        <p:spPr>
          <a:xfrm>
            <a:off x="1325880" y="3977640"/>
            <a:ext cx="2606040" cy="502920"/>
          </a:xfrm>
          <a:prstGeom prst="rect">
            <a:avLst/>
          </a:prstGeom>
          <a:noFill/>
          <a:ln/>
        </p:spPr>
        <p:txBody>
          <a:bodyPr wrap="square"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Networking</a:t>
            </a:r>
            <a:endParaRPr lang="en-US" sz="1450" dirty="0"/>
          </a:p>
        </p:txBody>
      </p:sp>
      <p:sp>
        <p:nvSpPr>
          <p:cNvPr id="23" name="Text 17"/>
          <p:cNvSpPr/>
          <p:nvPr/>
        </p:nvSpPr>
        <p:spPr>
          <a:xfrm>
            <a:off x="749808" y="4599432"/>
            <a:ext cx="3163824" cy="1051560"/>
          </a:xfrm>
          <a:prstGeom prst="rect">
            <a:avLst/>
          </a:prstGeom>
          <a:noFill/>
          <a:ln/>
        </p:spPr>
        <p:txBody>
          <a:bodyPr wrap="square" rtlCol="0" anchor="ctr"/>
          <a:lstStyle/>
          <a:p>
            <a:pPr indent="0" marL="0">
              <a:lnSpc>
                <a:spcPct val="120000"/>
              </a:lnSpc>
              <a:buNone/>
            </a:pPr>
            <a:r>
              <a:rPr lang="en-US" sz="1150" dirty="0">
                <a:solidFill>
                  <a:srgbClr val="5B6B75"/>
                </a:solidFill>
                <a:latin typeface="Calibri" pitchFamily="34" charset="0"/>
                <a:ea typeface="Calibri" pitchFamily="34" charset="-122"/>
                <a:cs typeface="Calibri" pitchFamily="34" charset="-120"/>
              </a:rPr>
              <a:t>Switches, routers, and fiber links connect servers internally and to the internet at large.</a:t>
            </a:r>
            <a:endParaRPr lang="en-US" sz="1150" dirty="0"/>
          </a:p>
        </p:txBody>
      </p:sp>
      <p:sp>
        <p:nvSpPr>
          <p:cNvPr id="24" name="Shape 18"/>
          <p:cNvSpPr/>
          <p:nvPr/>
        </p:nvSpPr>
        <p:spPr>
          <a:xfrm>
            <a:off x="4343400" y="3794760"/>
            <a:ext cx="3566160" cy="1965960"/>
          </a:xfrm>
          <a:prstGeom prst="roundRect">
            <a:avLst>
              <a:gd name="adj" fmla="val 4186"/>
            </a:avLst>
          </a:prstGeom>
          <a:solidFill>
            <a:srgbClr val="F4F8FA"/>
          </a:solidFill>
          <a:ln/>
        </p:spPr>
      </p:sp>
      <p:sp>
        <p:nvSpPr>
          <p:cNvPr id="25" name="Shape 19"/>
          <p:cNvSpPr/>
          <p:nvPr/>
        </p:nvSpPr>
        <p:spPr>
          <a:xfrm>
            <a:off x="4544568" y="4014216"/>
            <a:ext cx="457200" cy="457200"/>
          </a:xfrm>
          <a:prstGeom prst="ellipse">
            <a:avLst/>
          </a:prstGeom>
          <a:solidFill>
            <a:srgbClr val="065A82"/>
          </a:solidFill>
          <a:ln/>
        </p:spPr>
      </p:sp>
      <p:pic>
        <p:nvPicPr>
          <p:cNvPr id="26" name="Image 4" descr="/home/claude/dc_deck/icon_layers.png">    </p:cNvPr>
          <p:cNvPicPr>
            <a:picLocks noChangeAspect="1"/>
          </p:cNvPicPr>
          <p:nvPr/>
        </p:nvPicPr>
        <p:blipFill>
          <a:blip r:embed="rId5"/>
          <a:stretch>
            <a:fillRect/>
          </a:stretch>
        </p:blipFill>
        <p:spPr>
          <a:xfrm>
            <a:off x="4647438" y="4117086"/>
            <a:ext cx="251460" cy="251460"/>
          </a:xfrm>
          <a:prstGeom prst="rect">
            <a:avLst/>
          </a:prstGeom>
        </p:spPr>
      </p:pic>
      <p:sp>
        <p:nvSpPr>
          <p:cNvPr id="27" name="Text 20"/>
          <p:cNvSpPr/>
          <p:nvPr/>
        </p:nvSpPr>
        <p:spPr>
          <a:xfrm>
            <a:off x="5120640" y="3977640"/>
            <a:ext cx="2606040" cy="502920"/>
          </a:xfrm>
          <a:prstGeom prst="rect">
            <a:avLst/>
          </a:prstGeom>
          <a:noFill/>
          <a:ln/>
        </p:spPr>
        <p:txBody>
          <a:bodyPr wrap="square"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Virtualization Layer</a:t>
            </a:r>
            <a:endParaRPr lang="en-US" sz="1450" dirty="0"/>
          </a:p>
        </p:txBody>
      </p:sp>
      <p:sp>
        <p:nvSpPr>
          <p:cNvPr id="28" name="Text 21"/>
          <p:cNvSpPr/>
          <p:nvPr/>
        </p:nvSpPr>
        <p:spPr>
          <a:xfrm>
            <a:off x="4544568" y="4599432"/>
            <a:ext cx="3163824" cy="1051560"/>
          </a:xfrm>
          <a:prstGeom prst="rect">
            <a:avLst/>
          </a:prstGeom>
          <a:noFill/>
          <a:ln/>
        </p:spPr>
        <p:txBody>
          <a:bodyPr wrap="square" rtlCol="0" anchor="ctr"/>
          <a:lstStyle/>
          <a:p>
            <a:pPr indent="0" marL="0">
              <a:lnSpc>
                <a:spcPct val="120000"/>
              </a:lnSpc>
              <a:buNone/>
            </a:pPr>
            <a:r>
              <a:rPr lang="en-US" sz="1150" dirty="0">
                <a:solidFill>
                  <a:srgbClr val="5B6B75"/>
                </a:solidFill>
                <a:latin typeface="Calibri" pitchFamily="34" charset="0"/>
                <a:ea typeface="Calibri" pitchFamily="34" charset="-122"/>
                <a:cs typeface="Calibri" pitchFamily="34" charset="-120"/>
              </a:rPr>
              <a:t>Software (hypervisors, containers) that carves physical machines into flexible, shareable cloud resources.</a:t>
            </a:r>
            <a:endParaRPr lang="en-US" sz="1150" dirty="0"/>
          </a:p>
        </p:txBody>
      </p:sp>
      <p:sp>
        <p:nvSpPr>
          <p:cNvPr id="29" name="Shape 22"/>
          <p:cNvSpPr/>
          <p:nvPr/>
        </p:nvSpPr>
        <p:spPr>
          <a:xfrm>
            <a:off x="8138160" y="3794760"/>
            <a:ext cx="3566160" cy="1965960"/>
          </a:xfrm>
          <a:prstGeom prst="roundRect">
            <a:avLst>
              <a:gd name="adj" fmla="val 4186"/>
            </a:avLst>
          </a:prstGeom>
          <a:solidFill>
            <a:srgbClr val="F4F8FA"/>
          </a:solidFill>
          <a:ln/>
        </p:spPr>
      </p:sp>
      <p:sp>
        <p:nvSpPr>
          <p:cNvPr id="30" name="Shape 23"/>
          <p:cNvSpPr/>
          <p:nvPr/>
        </p:nvSpPr>
        <p:spPr>
          <a:xfrm>
            <a:off x="8339328" y="4014216"/>
            <a:ext cx="457200" cy="457200"/>
          </a:xfrm>
          <a:prstGeom prst="ellipse">
            <a:avLst/>
          </a:prstGeom>
          <a:solidFill>
            <a:srgbClr val="1C7293"/>
          </a:solidFill>
          <a:ln/>
        </p:spPr>
      </p:sp>
      <p:pic>
        <p:nvPicPr>
          <p:cNvPr id="31" name="Image 5" descr="/home/claude/dc_deck/icon_shield.png">    </p:cNvPr>
          <p:cNvPicPr>
            <a:picLocks noChangeAspect="1"/>
          </p:cNvPicPr>
          <p:nvPr/>
        </p:nvPicPr>
        <p:blipFill>
          <a:blip r:embed="rId6"/>
          <a:stretch>
            <a:fillRect/>
          </a:stretch>
        </p:blipFill>
        <p:spPr>
          <a:xfrm>
            <a:off x="8442198" y="4117086"/>
            <a:ext cx="251460" cy="251460"/>
          </a:xfrm>
          <a:prstGeom prst="rect">
            <a:avLst/>
          </a:prstGeom>
        </p:spPr>
      </p:pic>
      <p:sp>
        <p:nvSpPr>
          <p:cNvPr id="32" name="Text 24"/>
          <p:cNvSpPr/>
          <p:nvPr/>
        </p:nvSpPr>
        <p:spPr>
          <a:xfrm>
            <a:off x="8915400" y="3977640"/>
            <a:ext cx="2606040" cy="502920"/>
          </a:xfrm>
          <a:prstGeom prst="rect">
            <a:avLst/>
          </a:prstGeom>
          <a:noFill/>
          <a:ln/>
        </p:spPr>
        <p:txBody>
          <a:bodyPr wrap="square" rtlCol="0" anchor="ctr"/>
          <a:lstStyle/>
          <a:p>
            <a:pPr indent="0" marL="0">
              <a:buNone/>
            </a:pPr>
            <a:r>
              <a:rPr lang="en-US" sz="1450" b="1" dirty="0">
                <a:solidFill>
                  <a:srgbClr val="21295C"/>
                </a:solidFill>
                <a:latin typeface="Cambria" pitchFamily="34" charset="0"/>
                <a:ea typeface="Cambria" pitchFamily="34" charset="-122"/>
                <a:cs typeface="Cambria" pitchFamily="34" charset="-120"/>
              </a:rPr>
              <a:t>Security &amp; Redundancy</a:t>
            </a:r>
            <a:endParaRPr lang="en-US" sz="1450" dirty="0"/>
          </a:p>
        </p:txBody>
      </p:sp>
      <p:sp>
        <p:nvSpPr>
          <p:cNvPr id="33" name="Text 25"/>
          <p:cNvSpPr/>
          <p:nvPr/>
        </p:nvSpPr>
        <p:spPr>
          <a:xfrm>
            <a:off x="8339328" y="4599432"/>
            <a:ext cx="3163824" cy="1051560"/>
          </a:xfrm>
          <a:prstGeom prst="rect">
            <a:avLst/>
          </a:prstGeom>
          <a:noFill/>
          <a:ln/>
        </p:spPr>
        <p:txBody>
          <a:bodyPr wrap="square" rtlCol="0" anchor="ctr"/>
          <a:lstStyle/>
          <a:p>
            <a:pPr indent="0" marL="0">
              <a:lnSpc>
                <a:spcPct val="120000"/>
              </a:lnSpc>
              <a:buNone/>
            </a:pPr>
            <a:r>
              <a:rPr lang="en-US" sz="1150" dirty="0">
                <a:solidFill>
                  <a:srgbClr val="5B6B75"/>
                </a:solidFill>
                <a:latin typeface="Calibri" pitchFamily="34" charset="0"/>
                <a:ea typeface="Calibri" pitchFamily="34" charset="-122"/>
                <a:cs typeface="Calibri" pitchFamily="34" charset="-120"/>
              </a:rPr>
              <a:t>Access controls, firewalls, and failover systems ensure uptime and protect data.</a:t>
            </a:r>
            <a:endParaRPr lang="en-US" sz="1150" dirty="0"/>
          </a:p>
        </p:txBody>
      </p:sp>
      <p:sp>
        <p:nvSpPr>
          <p:cNvPr id="34" name="Text 26"/>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5FD3C4"/>
                </a:solidFill>
                <a:latin typeface="Calibri" pitchFamily="34" charset="0"/>
                <a:ea typeface="Calibri" pitchFamily="34" charset="-122"/>
                <a:cs typeface="Calibri" pitchFamily="34" charset="-120"/>
              </a:rPr>
              <a:t>HOW IT SUPPORTS CLOUD SERVICES</a:t>
            </a:r>
            <a:endParaRPr lang="en-US" sz="1300" dirty="0"/>
          </a:p>
        </p:txBody>
      </p:sp>
      <p:sp>
        <p:nvSpPr>
          <p:cNvPr id="3" name="Text 1"/>
          <p:cNvSpPr/>
          <p:nvPr/>
        </p:nvSpPr>
        <p:spPr>
          <a:xfrm>
            <a:off x="548640" y="685800"/>
            <a:ext cx="10607040" cy="6400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From Physical Racks to On-Demand Service</a:t>
            </a:r>
            <a:endParaRPr lang="en-US" sz="2700" dirty="0"/>
          </a:p>
        </p:txBody>
      </p:sp>
      <p:sp>
        <p:nvSpPr>
          <p:cNvPr id="4" name="Shape 2"/>
          <p:cNvSpPr/>
          <p:nvPr/>
        </p:nvSpPr>
        <p:spPr>
          <a:xfrm>
            <a:off x="548640" y="1737360"/>
            <a:ext cx="3246120" cy="2834640"/>
          </a:xfrm>
          <a:prstGeom prst="roundRect">
            <a:avLst>
              <a:gd name="adj" fmla="val 3226"/>
            </a:avLst>
          </a:prstGeom>
          <a:solidFill>
            <a:srgbClr val="1A2352"/>
          </a:solidFill>
          <a:ln w="12700">
            <a:solidFill>
              <a:srgbClr val="1C7293"/>
            </a:solidFill>
            <a:prstDash val="solid"/>
          </a:ln>
        </p:spPr>
      </p:sp>
      <p:sp>
        <p:nvSpPr>
          <p:cNvPr id="5" name="Shape 3"/>
          <p:cNvSpPr/>
          <p:nvPr/>
        </p:nvSpPr>
        <p:spPr>
          <a:xfrm>
            <a:off x="1851660" y="2057400"/>
            <a:ext cx="640080" cy="640080"/>
          </a:xfrm>
          <a:prstGeom prst="ellipse">
            <a:avLst/>
          </a:prstGeom>
          <a:solidFill>
            <a:srgbClr val="1C7293"/>
          </a:solidFill>
          <a:ln/>
        </p:spPr>
      </p:sp>
      <p:pic>
        <p:nvPicPr>
          <p:cNvPr id="6" name="Image 0" descr="/home/claude/dc_deck/icon_server.png">    </p:cNvPr>
          <p:cNvPicPr>
            <a:picLocks noChangeAspect="1"/>
          </p:cNvPicPr>
          <p:nvPr/>
        </p:nvPicPr>
        <p:blipFill>
          <a:blip r:embed="rId1"/>
          <a:stretch>
            <a:fillRect/>
          </a:stretch>
        </p:blipFill>
        <p:spPr>
          <a:xfrm>
            <a:off x="1992478" y="2198218"/>
            <a:ext cx="358445" cy="358445"/>
          </a:xfrm>
          <a:prstGeom prst="rect">
            <a:avLst/>
          </a:prstGeom>
        </p:spPr>
      </p:pic>
      <p:sp>
        <p:nvSpPr>
          <p:cNvPr id="7" name="Text 4"/>
          <p:cNvSpPr/>
          <p:nvPr/>
        </p:nvSpPr>
        <p:spPr>
          <a:xfrm>
            <a:off x="731520" y="2880360"/>
            <a:ext cx="2880360" cy="594360"/>
          </a:xfrm>
          <a:prstGeom prst="rect">
            <a:avLst/>
          </a:prstGeom>
          <a:noFill/>
          <a:ln/>
        </p:spPr>
        <p:txBody>
          <a:bodyPr wrap="square" rtlCol="0" anchor="t"/>
          <a:lstStyle/>
          <a:p>
            <a:pPr algn="ctr" indent="0" marL="0">
              <a:buNone/>
            </a:pPr>
            <a:r>
              <a:rPr lang="en-US" sz="1500" b="1" dirty="0">
                <a:solidFill>
                  <a:srgbClr val="FFFFFF"/>
                </a:solidFill>
                <a:latin typeface="Cambria" pitchFamily="34" charset="0"/>
                <a:ea typeface="Cambria" pitchFamily="34" charset="-122"/>
                <a:cs typeface="Cambria" pitchFamily="34" charset="-120"/>
              </a:rPr>
              <a:t>Physical Resources</a:t>
            </a:r>
            <a:endParaRPr lang="en-US" sz="1500" dirty="0"/>
          </a:p>
        </p:txBody>
      </p:sp>
      <p:sp>
        <p:nvSpPr>
          <p:cNvPr id="8" name="Text 5"/>
          <p:cNvSpPr/>
          <p:nvPr/>
        </p:nvSpPr>
        <p:spPr>
          <a:xfrm>
            <a:off x="777240" y="3520440"/>
            <a:ext cx="2788920" cy="960120"/>
          </a:xfrm>
          <a:prstGeom prst="rect">
            <a:avLst/>
          </a:prstGeom>
          <a:noFill/>
          <a:ln/>
        </p:spPr>
        <p:txBody>
          <a:bodyPr wrap="square"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Thousands of servers pooled together inside one or many data centers.</a:t>
            </a:r>
            <a:endParaRPr lang="en-US" sz="1150" dirty="0"/>
          </a:p>
        </p:txBody>
      </p:sp>
      <p:sp>
        <p:nvSpPr>
          <p:cNvPr id="9" name="Text 6"/>
          <p:cNvSpPr/>
          <p:nvPr/>
        </p:nvSpPr>
        <p:spPr>
          <a:xfrm>
            <a:off x="3822192" y="2834640"/>
            <a:ext cx="448056" cy="640080"/>
          </a:xfrm>
          <a:prstGeom prst="rect">
            <a:avLst/>
          </a:prstGeom>
          <a:noFill/>
          <a:ln/>
        </p:spPr>
        <p:txBody>
          <a:bodyPr wrap="square" rtlCol="0" anchor="ctr"/>
          <a:lstStyle/>
          <a:p>
            <a:pPr algn="ctr" indent="0" marL="0">
              <a:buNone/>
            </a:pPr>
            <a:r>
              <a:rPr lang="en-US" sz="2800" b="1" dirty="0">
                <a:solidFill>
                  <a:srgbClr val="5FD3C4"/>
                </a:solidFill>
                <a:latin typeface="Calibri" pitchFamily="34" charset="0"/>
                <a:ea typeface="Calibri" pitchFamily="34" charset="-122"/>
                <a:cs typeface="Calibri" pitchFamily="34" charset="-120"/>
              </a:rPr>
              <a:t>→</a:t>
            </a:r>
            <a:endParaRPr lang="en-US" sz="2800" dirty="0"/>
          </a:p>
        </p:txBody>
      </p:sp>
      <p:sp>
        <p:nvSpPr>
          <p:cNvPr id="10" name="Shape 7"/>
          <p:cNvSpPr/>
          <p:nvPr/>
        </p:nvSpPr>
        <p:spPr>
          <a:xfrm>
            <a:off x="4297680" y="1737360"/>
            <a:ext cx="3246120" cy="2834640"/>
          </a:xfrm>
          <a:prstGeom prst="roundRect">
            <a:avLst>
              <a:gd name="adj" fmla="val 3226"/>
            </a:avLst>
          </a:prstGeom>
          <a:solidFill>
            <a:srgbClr val="1A2352"/>
          </a:solidFill>
          <a:ln w="12700">
            <a:solidFill>
              <a:srgbClr val="1C7293"/>
            </a:solidFill>
            <a:prstDash val="solid"/>
          </a:ln>
        </p:spPr>
      </p:sp>
      <p:sp>
        <p:nvSpPr>
          <p:cNvPr id="11" name="Shape 8"/>
          <p:cNvSpPr/>
          <p:nvPr/>
        </p:nvSpPr>
        <p:spPr>
          <a:xfrm>
            <a:off x="5600700" y="2057400"/>
            <a:ext cx="640080" cy="640080"/>
          </a:xfrm>
          <a:prstGeom prst="ellipse">
            <a:avLst/>
          </a:prstGeom>
          <a:solidFill>
            <a:srgbClr val="1C7293"/>
          </a:solidFill>
          <a:ln/>
        </p:spPr>
      </p:sp>
      <p:pic>
        <p:nvPicPr>
          <p:cNvPr id="12" name="Image 1" descr="/home/claude/dc_deck/icon_layers.png">    </p:cNvPr>
          <p:cNvPicPr>
            <a:picLocks noChangeAspect="1"/>
          </p:cNvPicPr>
          <p:nvPr/>
        </p:nvPicPr>
        <p:blipFill>
          <a:blip r:embed="rId2"/>
          <a:stretch>
            <a:fillRect/>
          </a:stretch>
        </p:blipFill>
        <p:spPr>
          <a:xfrm>
            <a:off x="5741518" y="2198218"/>
            <a:ext cx="358445" cy="358445"/>
          </a:xfrm>
          <a:prstGeom prst="rect">
            <a:avLst/>
          </a:prstGeom>
        </p:spPr>
      </p:pic>
      <p:sp>
        <p:nvSpPr>
          <p:cNvPr id="13" name="Text 9"/>
          <p:cNvSpPr/>
          <p:nvPr/>
        </p:nvSpPr>
        <p:spPr>
          <a:xfrm>
            <a:off x="4480560" y="2880360"/>
            <a:ext cx="2880360" cy="594360"/>
          </a:xfrm>
          <a:prstGeom prst="rect">
            <a:avLst/>
          </a:prstGeom>
          <a:noFill/>
          <a:ln/>
        </p:spPr>
        <p:txBody>
          <a:bodyPr wrap="square" rtlCol="0" anchor="t"/>
          <a:lstStyle/>
          <a:p>
            <a:pPr algn="ctr" indent="0" marL="0">
              <a:buNone/>
            </a:pPr>
            <a:r>
              <a:rPr lang="en-US" sz="1500" b="1" dirty="0">
                <a:solidFill>
                  <a:srgbClr val="FFFFFF"/>
                </a:solidFill>
                <a:latin typeface="Cambria" pitchFamily="34" charset="0"/>
                <a:ea typeface="Cambria" pitchFamily="34" charset="-122"/>
                <a:cs typeface="Cambria" pitchFamily="34" charset="-120"/>
              </a:rPr>
              <a:t>Virtualization &amp; Orchestration</a:t>
            </a:r>
            <a:endParaRPr lang="en-US" sz="1500" dirty="0"/>
          </a:p>
        </p:txBody>
      </p:sp>
      <p:sp>
        <p:nvSpPr>
          <p:cNvPr id="14" name="Text 10"/>
          <p:cNvSpPr/>
          <p:nvPr/>
        </p:nvSpPr>
        <p:spPr>
          <a:xfrm>
            <a:off x="4526280" y="3520440"/>
            <a:ext cx="2788920" cy="960120"/>
          </a:xfrm>
          <a:prstGeom prst="rect">
            <a:avLst/>
          </a:prstGeom>
          <a:noFill/>
          <a:ln/>
        </p:spPr>
        <p:txBody>
          <a:bodyPr wrap="square"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Software divides and allocates that hardware into on-demand slices of compute, storage, and networking.</a:t>
            </a:r>
            <a:endParaRPr lang="en-US" sz="1150" dirty="0"/>
          </a:p>
        </p:txBody>
      </p:sp>
      <p:sp>
        <p:nvSpPr>
          <p:cNvPr id="15" name="Text 11"/>
          <p:cNvSpPr/>
          <p:nvPr/>
        </p:nvSpPr>
        <p:spPr>
          <a:xfrm>
            <a:off x="7571232" y="2834640"/>
            <a:ext cx="448056" cy="640080"/>
          </a:xfrm>
          <a:prstGeom prst="rect">
            <a:avLst/>
          </a:prstGeom>
          <a:noFill/>
          <a:ln/>
        </p:spPr>
        <p:txBody>
          <a:bodyPr wrap="square" rtlCol="0" anchor="ctr"/>
          <a:lstStyle/>
          <a:p>
            <a:pPr algn="ctr" indent="0" marL="0">
              <a:buNone/>
            </a:pPr>
            <a:r>
              <a:rPr lang="en-US" sz="2800" b="1" dirty="0">
                <a:solidFill>
                  <a:srgbClr val="5FD3C4"/>
                </a:solidFill>
                <a:latin typeface="Calibri" pitchFamily="34" charset="0"/>
                <a:ea typeface="Calibri" pitchFamily="34" charset="-122"/>
                <a:cs typeface="Calibri" pitchFamily="34" charset="-120"/>
              </a:rPr>
              <a:t>→</a:t>
            </a:r>
            <a:endParaRPr lang="en-US" sz="2800" dirty="0"/>
          </a:p>
        </p:txBody>
      </p:sp>
      <p:sp>
        <p:nvSpPr>
          <p:cNvPr id="16" name="Shape 12"/>
          <p:cNvSpPr/>
          <p:nvPr/>
        </p:nvSpPr>
        <p:spPr>
          <a:xfrm>
            <a:off x="8046720" y="1737360"/>
            <a:ext cx="3246120" cy="2834640"/>
          </a:xfrm>
          <a:prstGeom prst="roundRect">
            <a:avLst>
              <a:gd name="adj" fmla="val 3226"/>
            </a:avLst>
          </a:prstGeom>
          <a:solidFill>
            <a:srgbClr val="1A2352"/>
          </a:solidFill>
          <a:ln w="12700">
            <a:solidFill>
              <a:srgbClr val="1C7293"/>
            </a:solidFill>
            <a:prstDash val="solid"/>
          </a:ln>
        </p:spPr>
      </p:sp>
      <p:sp>
        <p:nvSpPr>
          <p:cNvPr id="17" name="Shape 13"/>
          <p:cNvSpPr/>
          <p:nvPr/>
        </p:nvSpPr>
        <p:spPr>
          <a:xfrm>
            <a:off x="9349740" y="2057400"/>
            <a:ext cx="640080" cy="640080"/>
          </a:xfrm>
          <a:prstGeom prst="ellipse">
            <a:avLst/>
          </a:prstGeom>
          <a:solidFill>
            <a:srgbClr val="1C7293"/>
          </a:solidFill>
          <a:ln/>
        </p:spPr>
      </p:sp>
      <p:pic>
        <p:nvPicPr>
          <p:cNvPr id="18" name="Image 2" descr="/home/claude/dc_deck/icon_cloud.png">    </p:cNvPr>
          <p:cNvPicPr>
            <a:picLocks noChangeAspect="1"/>
          </p:cNvPicPr>
          <p:nvPr/>
        </p:nvPicPr>
        <p:blipFill>
          <a:blip r:embed="rId3"/>
          <a:stretch>
            <a:fillRect/>
          </a:stretch>
        </p:blipFill>
        <p:spPr>
          <a:xfrm>
            <a:off x="9490558" y="2198218"/>
            <a:ext cx="358445" cy="358445"/>
          </a:xfrm>
          <a:prstGeom prst="rect">
            <a:avLst/>
          </a:prstGeom>
        </p:spPr>
      </p:pic>
      <p:sp>
        <p:nvSpPr>
          <p:cNvPr id="19" name="Text 14"/>
          <p:cNvSpPr/>
          <p:nvPr/>
        </p:nvSpPr>
        <p:spPr>
          <a:xfrm>
            <a:off x="8229600" y="2880360"/>
            <a:ext cx="2880360" cy="594360"/>
          </a:xfrm>
          <a:prstGeom prst="rect">
            <a:avLst/>
          </a:prstGeom>
          <a:noFill/>
          <a:ln/>
        </p:spPr>
        <p:txBody>
          <a:bodyPr wrap="square" rtlCol="0" anchor="t"/>
          <a:lstStyle/>
          <a:p>
            <a:pPr algn="ctr" indent="0" marL="0">
              <a:buNone/>
            </a:pPr>
            <a:r>
              <a:rPr lang="en-US" sz="1500" b="1" dirty="0">
                <a:solidFill>
                  <a:srgbClr val="FFFFFF"/>
                </a:solidFill>
                <a:latin typeface="Cambria" pitchFamily="34" charset="0"/>
                <a:ea typeface="Cambria" pitchFamily="34" charset="-122"/>
                <a:cs typeface="Cambria" pitchFamily="34" charset="-120"/>
              </a:rPr>
              <a:t>Cloud Service (IaaS / PaaS / SaaS)</a:t>
            </a:r>
            <a:endParaRPr lang="en-US" sz="1500" dirty="0"/>
          </a:p>
        </p:txBody>
      </p:sp>
      <p:sp>
        <p:nvSpPr>
          <p:cNvPr id="20" name="Text 15"/>
          <p:cNvSpPr/>
          <p:nvPr/>
        </p:nvSpPr>
        <p:spPr>
          <a:xfrm>
            <a:off x="8275320" y="3520440"/>
            <a:ext cx="2788920" cy="960120"/>
          </a:xfrm>
          <a:prstGeom prst="rect">
            <a:avLst/>
          </a:prstGeom>
          <a:noFill/>
          <a:ln/>
        </p:spPr>
        <p:txBody>
          <a:bodyPr wrap="square" rtlCol="0" anchor="ctr"/>
          <a:lstStyle/>
          <a:p>
            <a:pPr algn="ctr" indent="0" marL="0">
              <a:lnSpc>
                <a:spcPct val="120000"/>
              </a:lnSpc>
              <a:buNone/>
            </a:pPr>
            <a:r>
              <a:rPr lang="en-US" sz="1150" dirty="0">
                <a:solidFill>
                  <a:srgbClr val="CADCFC"/>
                </a:solidFill>
                <a:latin typeface="Calibri" pitchFamily="34" charset="0"/>
                <a:ea typeface="Calibri" pitchFamily="34" charset="-122"/>
                <a:cs typeface="Calibri" pitchFamily="34" charset="-120"/>
              </a:rPr>
              <a:t>Customers self-serve resources instantly, over the internet, paying only for what they use.</a:t>
            </a:r>
            <a:endParaRPr lang="en-US" sz="1150" dirty="0"/>
          </a:p>
        </p:txBody>
      </p:sp>
      <p:sp>
        <p:nvSpPr>
          <p:cNvPr id="21" name="Text 16"/>
          <p:cNvSpPr/>
          <p:nvPr/>
        </p:nvSpPr>
        <p:spPr>
          <a:xfrm>
            <a:off x="548640" y="4892040"/>
            <a:ext cx="11064240" cy="822960"/>
          </a:xfrm>
          <a:prstGeom prst="rect">
            <a:avLst/>
          </a:prstGeom>
          <a:noFill/>
          <a:ln/>
        </p:spPr>
        <p:txBody>
          <a:bodyPr wrap="square" rtlCol="0" anchor="ctr"/>
          <a:lstStyle/>
          <a:p>
            <a:pPr algn="ctr" indent="0" marL="0">
              <a:lnSpc>
                <a:spcPct val="130000"/>
              </a:lnSpc>
              <a:buNone/>
            </a:pPr>
            <a:r>
              <a:rPr lang="en-US" sz="1350" i="1" dirty="0">
                <a:solidFill>
                  <a:srgbClr val="CADCFC"/>
                </a:solidFill>
                <a:latin typeface="Calibri" pitchFamily="34" charset="0"/>
                <a:ea typeface="Calibri" pitchFamily="34" charset="-122"/>
                <a:cs typeface="Calibri" pitchFamily="34" charset="-120"/>
              </a:rPr>
              <a:t>Global reach comes from replication: providers group data centers into Availability Zones and Regions, so cloud services stay fast, redundant, and online even if one facility fails.</a:t>
            </a:r>
            <a:endParaRPr lang="en-US" sz="1350" dirty="0"/>
          </a:p>
        </p:txBody>
      </p:sp>
      <p:sp>
        <p:nvSpPr>
          <p:cNvPr id="22" name="Text 17"/>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INDUSTRY RELEVANCE</a:t>
            </a:r>
            <a:endParaRPr lang="en-US" sz="1300" dirty="0"/>
          </a:p>
        </p:txBody>
      </p:sp>
      <p:sp>
        <p:nvSpPr>
          <p:cNvPr id="3" name="Text 1"/>
          <p:cNvSpPr/>
          <p:nvPr/>
        </p:nvSpPr>
        <p:spPr>
          <a:xfrm>
            <a:off x="548640" y="685800"/>
            <a:ext cx="8229600" cy="640080"/>
          </a:xfrm>
          <a:prstGeom prst="rect">
            <a:avLst/>
          </a:prstGeom>
          <a:noFill/>
          <a:ln/>
        </p:spPr>
        <p:txBody>
          <a:bodyPr wrap="square" rtlCol="0" anchor="ctr"/>
          <a:lstStyle/>
          <a:p>
            <a:pPr indent="0" marL="0">
              <a:buNone/>
            </a:pPr>
            <a:r>
              <a:rPr lang="en-US" sz="3200" b="1" dirty="0">
                <a:solidFill>
                  <a:srgbClr val="1B2430"/>
                </a:solidFill>
                <a:latin typeface="Cambria" pitchFamily="34" charset="0"/>
                <a:ea typeface="Cambria" pitchFamily="34" charset="-122"/>
                <a:cs typeface="Cambria" pitchFamily="34" charset="-120"/>
              </a:rPr>
              <a:t>Why This Matters at Scale</a:t>
            </a:r>
            <a:endParaRPr lang="en-US" sz="3200" dirty="0"/>
          </a:p>
        </p:txBody>
      </p:sp>
      <p:sp>
        <p:nvSpPr>
          <p:cNvPr id="4" name="Shape 2"/>
          <p:cNvSpPr/>
          <p:nvPr/>
        </p:nvSpPr>
        <p:spPr>
          <a:xfrm>
            <a:off x="548640" y="1691640"/>
            <a:ext cx="2606040" cy="2286000"/>
          </a:xfrm>
          <a:prstGeom prst="roundRect">
            <a:avLst>
              <a:gd name="adj" fmla="val 4000"/>
            </a:avLst>
          </a:prstGeom>
          <a:solidFill>
            <a:srgbClr val="F4F8FA"/>
          </a:solidFill>
          <a:ln/>
        </p:spPr>
      </p:sp>
      <p:sp>
        <p:nvSpPr>
          <p:cNvPr id="5" name="Shape 3"/>
          <p:cNvSpPr/>
          <p:nvPr/>
        </p:nvSpPr>
        <p:spPr>
          <a:xfrm>
            <a:off x="548640" y="1691640"/>
            <a:ext cx="2606040" cy="73152"/>
          </a:xfrm>
          <a:prstGeom prst="rect">
            <a:avLst/>
          </a:prstGeom>
          <a:solidFill>
            <a:srgbClr val="065A82"/>
          </a:solidFill>
          <a:ln/>
        </p:spPr>
      </p:sp>
      <p:sp>
        <p:nvSpPr>
          <p:cNvPr id="6" name="Text 4"/>
          <p:cNvSpPr/>
          <p:nvPr/>
        </p:nvSpPr>
        <p:spPr>
          <a:xfrm>
            <a:off x="685800" y="1965960"/>
            <a:ext cx="2331720" cy="731520"/>
          </a:xfrm>
          <a:prstGeom prst="rect">
            <a:avLst/>
          </a:prstGeom>
          <a:noFill/>
          <a:ln/>
        </p:spPr>
        <p:txBody>
          <a:bodyPr wrap="square" rtlCol="0" anchor="ctr"/>
          <a:lstStyle/>
          <a:p>
            <a:pPr algn="l" indent="0" marL="0">
              <a:buNone/>
            </a:pPr>
            <a:r>
              <a:rPr lang="en-US" sz="3400" b="1" dirty="0">
                <a:solidFill>
                  <a:srgbClr val="065A82"/>
                </a:solidFill>
                <a:latin typeface="Cambria" pitchFamily="34" charset="0"/>
                <a:ea typeface="Cambria" pitchFamily="34" charset="-122"/>
                <a:cs typeface="Cambria" pitchFamily="34" charset="-120"/>
              </a:rPr>
              <a:t>$1T+</a:t>
            </a:r>
            <a:endParaRPr lang="en-US" sz="3400" dirty="0"/>
          </a:p>
        </p:txBody>
      </p:sp>
      <p:sp>
        <p:nvSpPr>
          <p:cNvPr id="7" name="Text 5"/>
          <p:cNvSpPr/>
          <p:nvPr/>
        </p:nvSpPr>
        <p:spPr>
          <a:xfrm>
            <a:off x="713232" y="2743200"/>
            <a:ext cx="2276856" cy="1097280"/>
          </a:xfrm>
          <a:prstGeom prst="rect">
            <a:avLst/>
          </a:prstGeom>
          <a:noFill/>
          <a:ln/>
        </p:spPr>
        <p:txBody>
          <a:bodyPr wrap="square" rtlCol="0" anchor="ctr"/>
          <a:lstStyle/>
          <a:p>
            <a:pPr indent="0" marL="0">
              <a:lnSpc>
                <a:spcPct val="122000"/>
              </a:lnSpc>
              <a:buNone/>
            </a:pPr>
            <a:r>
              <a:rPr lang="en-US" sz="1100" dirty="0">
                <a:solidFill>
                  <a:srgbClr val="5B6B75"/>
                </a:solidFill>
                <a:latin typeface="Calibri" pitchFamily="34" charset="0"/>
                <a:ea typeface="Calibri" pitchFamily="34" charset="-122"/>
                <a:cs typeface="Calibri" pitchFamily="34" charset="-120"/>
              </a:rPr>
              <a:t>Global data center capex forecast for 2026, driven largely by cloud and AI infrastructure buildouts</a:t>
            </a:r>
            <a:endParaRPr lang="en-US" sz="1100" dirty="0"/>
          </a:p>
        </p:txBody>
      </p:sp>
      <p:sp>
        <p:nvSpPr>
          <p:cNvPr id="8" name="Shape 6"/>
          <p:cNvSpPr/>
          <p:nvPr/>
        </p:nvSpPr>
        <p:spPr>
          <a:xfrm>
            <a:off x="3447288" y="1691640"/>
            <a:ext cx="2606040" cy="2286000"/>
          </a:xfrm>
          <a:prstGeom prst="roundRect">
            <a:avLst>
              <a:gd name="adj" fmla="val 4000"/>
            </a:avLst>
          </a:prstGeom>
          <a:solidFill>
            <a:srgbClr val="F4F8FA"/>
          </a:solidFill>
          <a:ln/>
        </p:spPr>
      </p:sp>
      <p:sp>
        <p:nvSpPr>
          <p:cNvPr id="9" name="Shape 7"/>
          <p:cNvSpPr/>
          <p:nvPr/>
        </p:nvSpPr>
        <p:spPr>
          <a:xfrm>
            <a:off x="3447288" y="1691640"/>
            <a:ext cx="2606040" cy="73152"/>
          </a:xfrm>
          <a:prstGeom prst="rect">
            <a:avLst/>
          </a:prstGeom>
          <a:solidFill>
            <a:srgbClr val="1C7293"/>
          </a:solidFill>
          <a:ln/>
        </p:spPr>
      </p:sp>
      <p:sp>
        <p:nvSpPr>
          <p:cNvPr id="10" name="Text 8"/>
          <p:cNvSpPr/>
          <p:nvPr/>
        </p:nvSpPr>
        <p:spPr>
          <a:xfrm>
            <a:off x="3584448" y="1965960"/>
            <a:ext cx="2331720" cy="731520"/>
          </a:xfrm>
          <a:prstGeom prst="rect">
            <a:avLst/>
          </a:prstGeom>
          <a:noFill/>
          <a:ln/>
        </p:spPr>
        <p:txBody>
          <a:bodyPr wrap="square" rtlCol="0" anchor="ctr"/>
          <a:lstStyle/>
          <a:p>
            <a:pPr algn="l" indent="0" marL="0">
              <a:buNone/>
            </a:pPr>
            <a:r>
              <a:rPr lang="en-US" sz="3400" b="1" dirty="0">
                <a:solidFill>
                  <a:srgbClr val="1C7293"/>
                </a:solidFill>
                <a:latin typeface="Cambria" pitchFamily="34" charset="0"/>
                <a:ea typeface="Cambria" pitchFamily="34" charset="-122"/>
                <a:cs typeface="Cambria" pitchFamily="34" charset="-120"/>
              </a:rPr>
              <a:t>~11%</a:t>
            </a:r>
            <a:endParaRPr lang="en-US" sz="3400" dirty="0"/>
          </a:p>
        </p:txBody>
      </p:sp>
      <p:sp>
        <p:nvSpPr>
          <p:cNvPr id="11" name="Text 9"/>
          <p:cNvSpPr/>
          <p:nvPr/>
        </p:nvSpPr>
        <p:spPr>
          <a:xfrm>
            <a:off x="3611880" y="2743200"/>
            <a:ext cx="2276856" cy="1097280"/>
          </a:xfrm>
          <a:prstGeom prst="rect">
            <a:avLst/>
          </a:prstGeom>
          <a:noFill/>
          <a:ln/>
        </p:spPr>
        <p:txBody>
          <a:bodyPr wrap="square" rtlCol="0" anchor="ctr"/>
          <a:lstStyle/>
          <a:p>
            <a:pPr indent="0" marL="0">
              <a:lnSpc>
                <a:spcPct val="122000"/>
              </a:lnSpc>
              <a:buNone/>
            </a:pPr>
            <a:r>
              <a:rPr lang="en-US" sz="1100" dirty="0">
                <a:solidFill>
                  <a:srgbClr val="5B6B75"/>
                </a:solidFill>
                <a:latin typeface="Calibri" pitchFamily="34" charset="0"/>
                <a:ea typeface="Calibri" pitchFamily="34" charset="-122"/>
                <a:cs typeface="Calibri" pitchFamily="34" charset="-120"/>
              </a:rPr>
              <a:t>Projected annual growth (CAGR) of the global data center market through the early 2030s</a:t>
            </a:r>
            <a:endParaRPr lang="en-US" sz="1100" dirty="0"/>
          </a:p>
        </p:txBody>
      </p:sp>
      <p:sp>
        <p:nvSpPr>
          <p:cNvPr id="12" name="Shape 10"/>
          <p:cNvSpPr/>
          <p:nvPr/>
        </p:nvSpPr>
        <p:spPr>
          <a:xfrm>
            <a:off x="6345936" y="1691640"/>
            <a:ext cx="2606040" cy="2286000"/>
          </a:xfrm>
          <a:prstGeom prst="roundRect">
            <a:avLst>
              <a:gd name="adj" fmla="val 4000"/>
            </a:avLst>
          </a:prstGeom>
          <a:solidFill>
            <a:srgbClr val="F4F8FA"/>
          </a:solidFill>
          <a:ln/>
        </p:spPr>
      </p:sp>
      <p:sp>
        <p:nvSpPr>
          <p:cNvPr id="13" name="Shape 11"/>
          <p:cNvSpPr/>
          <p:nvPr/>
        </p:nvSpPr>
        <p:spPr>
          <a:xfrm>
            <a:off x="6345936" y="1691640"/>
            <a:ext cx="2606040" cy="73152"/>
          </a:xfrm>
          <a:prstGeom prst="rect">
            <a:avLst/>
          </a:prstGeom>
          <a:solidFill>
            <a:srgbClr val="065A82"/>
          </a:solidFill>
          <a:ln/>
        </p:spPr>
      </p:sp>
      <p:sp>
        <p:nvSpPr>
          <p:cNvPr id="14" name="Text 12"/>
          <p:cNvSpPr/>
          <p:nvPr/>
        </p:nvSpPr>
        <p:spPr>
          <a:xfrm>
            <a:off x="6483096" y="1965960"/>
            <a:ext cx="2331720" cy="731520"/>
          </a:xfrm>
          <a:prstGeom prst="rect">
            <a:avLst/>
          </a:prstGeom>
          <a:noFill/>
          <a:ln/>
        </p:spPr>
        <p:txBody>
          <a:bodyPr wrap="square" rtlCol="0" anchor="ctr"/>
          <a:lstStyle/>
          <a:p>
            <a:pPr algn="l" indent="0" marL="0">
              <a:buNone/>
            </a:pPr>
            <a:r>
              <a:rPr lang="en-US" sz="3400" b="1" dirty="0">
                <a:solidFill>
                  <a:srgbClr val="065A82"/>
                </a:solidFill>
                <a:latin typeface="Cambria" pitchFamily="34" charset="0"/>
                <a:ea typeface="Cambria" pitchFamily="34" charset="-122"/>
                <a:cs typeface="Cambria" pitchFamily="34" charset="-120"/>
              </a:rPr>
              <a:t>4,000+</a:t>
            </a:r>
            <a:endParaRPr lang="en-US" sz="3400" dirty="0"/>
          </a:p>
        </p:txBody>
      </p:sp>
      <p:sp>
        <p:nvSpPr>
          <p:cNvPr id="15" name="Text 13"/>
          <p:cNvSpPr/>
          <p:nvPr/>
        </p:nvSpPr>
        <p:spPr>
          <a:xfrm>
            <a:off x="6510528" y="2743200"/>
            <a:ext cx="2276856" cy="1097280"/>
          </a:xfrm>
          <a:prstGeom prst="rect">
            <a:avLst/>
          </a:prstGeom>
          <a:noFill/>
          <a:ln/>
        </p:spPr>
        <p:txBody>
          <a:bodyPr wrap="square" rtlCol="0" anchor="ctr"/>
          <a:lstStyle/>
          <a:p>
            <a:pPr indent="0" marL="0">
              <a:lnSpc>
                <a:spcPct val="122000"/>
              </a:lnSpc>
              <a:buNone/>
            </a:pPr>
            <a:r>
              <a:rPr lang="en-US" sz="1100" dirty="0">
                <a:solidFill>
                  <a:srgbClr val="5B6B75"/>
                </a:solidFill>
                <a:latin typeface="Calibri" pitchFamily="34" charset="0"/>
                <a:ea typeface="Calibri" pitchFamily="34" charset="-122"/>
                <a:cs typeface="Calibri" pitchFamily="34" charset="-120"/>
              </a:rPr>
              <a:t>Data centers located in the U.S. alone — more than the next five countries combined</a:t>
            </a:r>
            <a:endParaRPr lang="en-US" sz="1100" dirty="0"/>
          </a:p>
        </p:txBody>
      </p:sp>
      <p:sp>
        <p:nvSpPr>
          <p:cNvPr id="16" name="Shape 14"/>
          <p:cNvSpPr/>
          <p:nvPr/>
        </p:nvSpPr>
        <p:spPr>
          <a:xfrm>
            <a:off x="9244584" y="1691640"/>
            <a:ext cx="2606040" cy="2286000"/>
          </a:xfrm>
          <a:prstGeom prst="roundRect">
            <a:avLst>
              <a:gd name="adj" fmla="val 4000"/>
            </a:avLst>
          </a:prstGeom>
          <a:solidFill>
            <a:srgbClr val="F4F8FA"/>
          </a:solidFill>
          <a:ln/>
        </p:spPr>
      </p:sp>
      <p:sp>
        <p:nvSpPr>
          <p:cNvPr id="17" name="Shape 15"/>
          <p:cNvSpPr/>
          <p:nvPr/>
        </p:nvSpPr>
        <p:spPr>
          <a:xfrm>
            <a:off x="9244584" y="1691640"/>
            <a:ext cx="2606040" cy="73152"/>
          </a:xfrm>
          <a:prstGeom prst="rect">
            <a:avLst/>
          </a:prstGeom>
          <a:solidFill>
            <a:srgbClr val="1C7293"/>
          </a:solidFill>
          <a:ln/>
        </p:spPr>
      </p:sp>
      <p:sp>
        <p:nvSpPr>
          <p:cNvPr id="18" name="Text 16"/>
          <p:cNvSpPr/>
          <p:nvPr/>
        </p:nvSpPr>
        <p:spPr>
          <a:xfrm>
            <a:off x="9381744" y="1965960"/>
            <a:ext cx="2331720" cy="731520"/>
          </a:xfrm>
          <a:prstGeom prst="rect">
            <a:avLst/>
          </a:prstGeom>
          <a:noFill/>
          <a:ln/>
        </p:spPr>
        <p:txBody>
          <a:bodyPr wrap="square" rtlCol="0" anchor="ctr"/>
          <a:lstStyle/>
          <a:p>
            <a:pPr algn="l" indent="0" marL="0">
              <a:buNone/>
            </a:pPr>
            <a:r>
              <a:rPr lang="en-US" sz="3400" b="1" dirty="0">
                <a:solidFill>
                  <a:srgbClr val="1C7293"/>
                </a:solidFill>
                <a:latin typeface="Cambria" pitchFamily="34" charset="0"/>
                <a:ea typeface="Cambria" pitchFamily="34" charset="-122"/>
                <a:cs typeface="Cambria" pitchFamily="34" charset="-120"/>
              </a:rPr>
              <a:t>99.99%</a:t>
            </a:r>
            <a:endParaRPr lang="en-US" sz="3400" dirty="0"/>
          </a:p>
        </p:txBody>
      </p:sp>
      <p:sp>
        <p:nvSpPr>
          <p:cNvPr id="19" name="Text 17"/>
          <p:cNvSpPr/>
          <p:nvPr/>
        </p:nvSpPr>
        <p:spPr>
          <a:xfrm>
            <a:off x="9409176" y="2743200"/>
            <a:ext cx="2276856" cy="1097280"/>
          </a:xfrm>
          <a:prstGeom prst="rect">
            <a:avLst/>
          </a:prstGeom>
          <a:noFill/>
          <a:ln/>
        </p:spPr>
        <p:txBody>
          <a:bodyPr wrap="square" rtlCol="0" anchor="ctr"/>
          <a:lstStyle/>
          <a:p>
            <a:pPr indent="0" marL="0">
              <a:lnSpc>
                <a:spcPct val="122000"/>
              </a:lnSpc>
              <a:buNone/>
            </a:pPr>
            <a:r>
              <a:rPr lang="en-US" sz="1100" dirty="0">
                <a:solidFill>
                  <a:srgbClr val="5B6B75"/>
                </a:solidFill>
                <a:latin typeface="Calibri" pitchFamily="34" charset="0"/>
                <a:ea typeface="Calibri" pitchFamily="34" charset="-122"/>
                <a:cs typeface="Calibri" pitchFamily="34" charset="-120"/>
              </a:rPr>
              <a:t>Typical uptime guarantee (Tier 3/4) — under ~1 hour of downtime per year</a:t>
            </a:r>
            <a:endParaRPr lang="en-US" sz="1100" dirty="0"/>
          </a:p>
        </p:txBody>
      </p:sp>
      <p:sp>
        <p:nvSpPr>
          <p:cNvPr id="20" name="Text 18"/>
          <p:cNvSpPr/>
          <p:nvPr/>
        </p:nvSpPr>
        <p:spPr>
          <a:xfrm>
            <a:off x="548640" y="4251960"/>
            <a:ext cx="2743200" cy="365760"/>
          </a:xfrm>
          <a:prstGeom prst="rect">
            <a:avLst/>
          </a:prstGeom>
          <a:noFill/>
          <a:ln/>
        </p:spPr>
        <p:txBody>
          <a:bodyPr wrap="square" rtlCol="0" anchor="ctr"/>
          <a:lstStyle/>
          <a:p>
            <a:pPr indent="0" marL="0">
              <a:buNone/>
            </a:pPr>
            <a:r>
              <a:rPr lang="en-US" sz="1300" b="1" dirty="0">
                <a:solidFill>
                  <a:srgbClr val="21295C"/>
                </a:solidFill>
                <a:latin typeface="Calibri" pitchFamily="34" charset="0"/>
                <a:ea typeface="Calibri" pitchFamily="34" charset="-122"/>
                <a:cs typeface="Calibri" pitchFamily="34" charset="-120"/>
              </a:rPr>
              <a:t>Why it matters:</a:t>
            </a:r>
            <a:endParaRPr lang="en-US" sz="1300" dirty="0"/>
          </a:p>
        </p:txBody>
      </p:sp>
      <p:sp>
        <p:nvSpPr>
          <p:cNvPr id="21" name="Text 19"/>
          <p:cNvSpPr/>
          <p:nvPr/>
        </p:nvSpPr>
        <p:spPr>
          <a:xfrm>
            <a:off x="548640" y="4617720"/>
            <a:ext cx="11064240" cy="1737360"/>
          </a:xfrm>
          <a:prstGeom prst="rect">
            <a:avLst/>
          </a:prstGeom>
          <a:noFill/>
          <a:ln/>
        </p:spPr>
        <p:txBody>
          <a:bodyPr wrap="square" rtlCol="0" anchor="ctr"/>
          <a:lstStyle/>
          <a:p>
            <a:pPr marL="342900" indent="-342900">
              <a:lnSpc>
                <a:spcPct val="115000"/>
              </a:lnSpc>
              <a:spcAft>
                <a:spcPts val="1000"/>
              </a:spcAft>
              <a:buSzPct val="100000"/>
              <a:buChar char="•"/>
            </a:pPr>
            <a:r>
              <a:rPr lang="en-US" sz="1300" dirty="0">
                <a:solidFill>
                  <a:srgbClr val="1B2430"/>
                </a:solidFill>
                <a:latin typeface="Calibri" pitchFamily="34" charset="0"/>
                <a:ea typeface="Calibri" pitchFamily="34" charset="-122"/>
                <a:cs typeface="Calibri" pitchFamily="34" charset="-120"/>
              </a:rPr>
              <a:t>Nearly every major industry — finance, healthcare, retail, media, government — now runs core operations on cloud infrastructure hosted in data centers.</a:t>
            </a:r>
            <a:endParaRPr lang="en-US" sz="1300" dirty="0"/>
          </a:p>
          <a:p>
            <a:pPr marL="342900" indent="-342900">
              <a:lnSpc>
                <a:spcPct val="115000"/>
              </a:lnSpc>
              <a:spcAft>
                <a:spcPts val="1000"/>
              </a:spcAft>
              <a:buSzPct val="100000"/>
              <a:buChar char="•"/>
            </a:pPr>
            <a:r>
              <a:rPr lang="en-US" sz="1300" dirty="0">
                <a:solidFill>
                  <a:srgbClr val="1B2430"/>
                </a:solidFill>
                <a:latin typeface="Calibri" pitchFamily="34" charset="0"/>
                <a:ea typeface="Calibri" pitchFamily="34" charset="-122"/>
                <a:cs typeface="Calibri" pitchFamily="34" charset="-120"/>
              </a:rPr>
              <a:t>AI workloads are accelerating demand for higher-density, higher-power data centers, reshaping where and how they’re built.</a:t>
            </a:r>
            <a:endParaRPr lang="en-US" sz="1300" dirty="0"/>
          </a:p>
          <a:p>
            <a:pPr marL="342900" indent="-342900">
              <a:lnSpc>
                <a:spcPct val="115000"/>
              </a:lnSpc>
              <a:spcAft>
                <a:spcPts val="1000"/>
              </a:spcAft>
              <a:buSzPct val="100000"/>
              <a:buChar char="•"/>
            </a:pPr>
            <a:r>
              <a:rPr lang="en-US" sz="1300" dirty="0">
                <a:solidFill>
                  <a:srgbClr val="1B2430"/>
                </a:solidFill>
                <a:latin typeface="Calibri" pitchFamily="34" charset="0"/>
                <a:ea typeface="Calibri" pitchFamily="34" charset="-122"/>
                <a:cs typeface="Calibri" pitchFamily="34" charset="-120"/>
              </a:rPr>
              <a:t>Reliability of the data center directly determines reliability of the cloud services businesses depend on daily.</a:t>
            </a:r>
            <a:endParaRPr lang="en-US" sz="1300" dirty="0"/>
          </a:p>
        </p:txBody>
      </p:sp>
      <p:sp>
        <p:nvSpPr>
          <p:cNvPr id="22" name="Text 20"/>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PRACTICAL EXAMPLE</a:t>
            </a:r>
            <a:endParaRPr lang="en-US" sz="1300" dirty="0"/>
          </a:p>
        </p:txBody>
      </p:sp>
      <p:sp>
        <p:nvSpPr>
          <p:cNvPr id="3" name="Text 1"/>
          <p:cNvSpPr/>
          <p:nvPr/>
        </p:nvSpPr>
        <p:spPr>
          <a:xfrm>
            <a:off x="548640" y="685800"/>
            <a:ext cx="9144000" cy="640080"/>
          </a:xfrm>
          <a:prstGeom prst="rect">
            <a:avLst/>
          </a:prstGeom>
          <a:noFill/>
          <a:ln/>
        </p:spPr>
        <p:txBody>
          <a:bodyPr wrap="square" rtlCol="0" anchor="ctr"/>
          <a:lstStyle/>
          <a:p>
            <a:pPr indent="0" marL="0">
              <a:buNone/>
            </a:pPr>
            <a:r>
              <a:rPr lang="en-US" sz="3000" b="1" dirty="0">
                <a:solidFill>
                  <a:srgbClr val="1B2430"/>
                </a:solidFill>
                <a:latin typeface="Cambria" pitchFamily="34" charset="0"/>
                <a:ea typeface="Cambria" pitchFamily="34" charset="-122"/>
                <a:cs typeface="Cambria" pitchFamily="34" charset="-120"/>
              </a:rPr>
              <a:t>Streaming Video: The Cloud in Action</a:t>
            </a:r>
            <a:endParaRPr lang="en-US" sz="3000" dirty="0"/>
          </a:p>
        </p:txBody>
      </p:sp>
      <p:sp>
        <p:nvSpPr>
          <p:cNvPr id="4" name="Shape 2"/>
          <p:cNvSpPr/>
          <p:nvPr/>
        </p:nvSpPr>
        <p:spPr>
          <a:xfrm>
            <a:off x="548640" y="1691640"/>
            <a:ext cx="5120640" cy="4206240"/>
          </a:xfrm>
          <a:prstGeom prst="roundRect">
            <a:avLst>
              <a:gd name="adj" fmla="val 2174"/>
            </a:avLst>
          </a:prstGeom>
          <a:solidFill>
            <a:srgbClr val="21295C"/>
          </a:solidFill>
          <a:ln/>
        </p:spPr>
      </p:sp>
      <p:sp>
        <p:nvSpPr>
          <p:cNvPr id="5" name="Shape 3"/>
          <p:cNvSpPr/>
          <p:nvPr/>
        </p:nvSpPr>
        <p:spPr>
          <a:xfrm>
            <a:off x="914400" y="2011680"/>
            <a:ext cx="594360" cy="594360"/>
          </a:xfrm>
          <a:prstGeom prst="ellipse">
            <a:avLst/>
          </a:prstGeom>
          <a:solidFill>
            <a:srgbClr val="1C7293"/>
          </a:solidFill>
          <a:ln/>
        </p:spPr>
      </p:sp>
      <p:pic>
        <p:nvPicPr>
          <p:cNvPr id="6" name="Image 0" descr="/home/claude/dc_deck/icon_film.png">    </p:cNvPr>
          <p:cNvPicPr>
            <a:picLocks noChangeAspect="1"/>
          </p:cNvPicPr>
          <p:nvPr/>
        </p:nvPicPr>
        <p:blipFill>
          <a:blip r:embed="rId1"/>
          <a:stretch>
            <a:fillRect/>
          </a:stretch>
        </p:blipFill>
        <p:spPr>
          <a:xfrm>
            <a:off x="1045159" y="2142439"/>
            <a:ext cx="332842" cy="332842"/>
          </a:xfrm>
          <a:prstGeom prst="rect">
            <a:avLst/>
          </a:prstGeom>
        </p:spPr>
      </p:pic>
      <p:sp>
        <p:nvSpPr>
          <p:cNvPr id="7" name="Text 4"/>
          <p:cNvSpPr/>
          <p:nvPr/>
        </p:nvSpPr>
        <p:spPr>
          <a:xfrm>
            <a:off x="1691640" y="2057400"/>
            <a:ext cx="365760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A global streaming platform</a:t>
            </a:r>
            <a:endParaRPr lang="en-US" sz="1700" dirty="0"/>
          </a:p>
        </p:txBody>
      </p:sp>
      <p:sp>
        <p:nvSpPr>
          <p:cNvPr id="8" name="Text 5"/>
          <p:cNvSpPr/>
          <p:nvPr/>
        </p:nvSpPr>
        <p:spPr>
          <a:xfrm>
            <a:off x="914400" y="2834640"/>
            <a:ext cx="4389120" cy="1051560"/>
          </a:xfrm>
          <a:prstGeom prst="rect">
            <a:avLst/>
          </a:prstGeom>
          <a:noFill/>
          <a:ln/>
        </p:spPr>
        <p:txBody>
          <a:bodyPr wrap="square" rtlCol="0" anchor="ctr"/>
          <a:lstStyle/>
          <a:p>
            <a:pPr indent="0" marL="0">
              <a:lnSpc>
                <a:spcPct val="130000"/>
              </a:lnSpc>
              <a:buNone/>
            </a:pPr>
            <a:r>
              <a:rPr lang="en-US" sz="1300" dirty="0">
                <a:solidFill>
                  <a:srgbClr val="CADCFC"/>
                </a:solidFill>
                <a:latin typeface="Calibri" pitchFamily="34" charset="0"/>
                <a:ea typeface="Calibri" pitchFamily="34" charset="-122"/>
                <a:cs typeface="Calibri" pitchFamily="34" charset="-120"/>
              </a:rPr>
              <a:t>When a viewer presses play, the request never touches a single, distant server. It is routed to the nearest data center region, which streams the video from locally cached copies of the file.</a:t>
            </a:r>
            <a:endParaRPr lang="en-US" sz="1300" dirty="0"/>
          </a:p>
        </p:txBody>
      </p:sp>
      <p:sp>
        <p:nvSpPr>
          <p:cNvPr id="9" name="Text 6"/>
          <p:cNvSpPr/>
          <p:nvPr/>
        </p:nvSpPr>
        <p:spPr>
          <a:xfrm>
            <a:off x="914400" y="3977640"/>
            <a:ext cx="4389120" cy="1828800"/>
          </a:xfrm>
          <a:prstGeom prst="rect">
            <a:avLst/>
          </a:prstGeom>
          <a:noFill/>
          <a:ln/>
        </p:spPr>
        <p:txBody>
          <a:bodyPr wrap="square" rtlCol="0" anchor="ctr"/>
          <a:lstStyle/>
          <a:p>
            <a:pPr marL="342900" indent="-342900">
              <a:lnSpc>
                <a:spcPct val="120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Content is stored across many regional data centers, not one central location.</a:t>
            </a:r>
            <a:endParaRPr lang="en-US" sz="1200" dirty="0"/>
          </a:p>
          <a:p>
            <a:pPr marL="342900" indent="-342900">
              <a:lnSpc>
                <a:spcPct val="120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Compute in those data centers handles encoding, recommendations, and account management.</a:t>
            </a:r>
            <a:endParaRPr lang="en-US" sz="1200" dirty="0"/>
          </a:p>
          <a:p>
            <a:pPr marL="342900" indent="-342900">
              <a:lnSpc>
                <a:spcPct val="120000"/>
              </a:lnSpc>
              <a:spcAft>
                <a:spcPts val="800"/>
              </a:spcAft>
              <a:buSzPct val="100000"/>
              <a:buChar char="•"/>
            </a:pPr>
            <a:r>
              <a:rPr lang="en-US" sz="1200" dirty="0">
                <a:solidFill>
                  <a:srgbClr val="FFFFFF"/>
                </a:solidFill>
                <a:latin typeface="Calibri" pitchFamily="34" charset="0"/>
                <a:ea typeface="Calibri" pitchFamily="34" charset="-122"/>
                <a:cs typeface="Calibri" pitchFamily="34" charset="-120"/>
              </a:rPr>
              <a:t>If one data center has an issue, traffic reroutes to another automatically — the viewer never notices.</a:t>
            </a:r>
            <a:endParaRPr lang="en-US" sz="1200" dirty="0"/>
          </a:p>
        </p:txBody>
      </p:sp>
      <p:sp>
        <p:nvSpPr>
          <p:cNvPr id="10" name="Shape 7"/>
          <p:cNvSpPr/>
          <p:nvPr/>
        </p:nvSpPr>
        <p:spPr>
          <a:xfrm>
            <a:off x="5989320" y="1783080"/>
            <a:ext cx="5623560" cy="1051560"/>
          </a:xfrm>
          <a:prstGeom prst="roundRect">
            <a:avLst>
              <a:gd name="adj" fmla="val 7826"/>
            </a:avLst>
          </a:prstGeom>
          <a:solidFill>
            <a:srgbClr val="F4F8FA"/>
          </a:solidFill>
          <a:ln/>
        </p:spPr>
      </p:sp>
      <p:sp>
        <p:nvSpPr>
          <p:cNvPr id="11" name="Shape 8"/>
          <p:cNvSpPr/>
          <p:nvPr/>
        </p:nvSpPr>
        <p:spPr>
          <a:xfrm>
            <a:off x="6190488" y="2029968"/>
            <a:ext cx="548640" cy="548640"/>
          </a:xfrm>
          <a:prstGeom prst="ellipse">
            <a:avLst/>
          </a:prstGeom>
          <a:solidFill>
            <a:srgbClr val="065A82"/>
          </a:solidFill>
          <a:ln/>
        </p:spPr>
      </p:sp>
      <p:pic>
        <p:nvPicPr>
          <p:cNvPr id="12" name="Image 1" descr="/home/claude/dc_deck/icon_globe.png">    </p:cNvPr>
          <p:cNvPicPr>
            <a:picLocks noChangeAspect="1"/>
          </p:cNvPicPr>
          <p:nvPr/>
        </p:nvPicPr>
        <p:blipFill>
          <a:blip r:embed="rId2"/>
          <a:stretch>
            <a:fillRect/>
          </a:stretch>
        </p:blipFill>
        <p:spPr>
          <a:xfrm>
            <a:off x="6311189" y="2150669"/>
            <a:ext cx="307238" cy="307238"/>
          </a:xfrm>
          <a:prstGeom prst="rect">
            <a:avLst/>
          </a:prstGeom>
        </p:spPr>
      </p:pic>
      <p:sp>
        <p:nvSpPr>
          <p:cNvPr id="13" name="Text 9"/>
          <p:cNvSpPr/>
          <p:nvPr/>
        </p:nvSpPr>
        <p:spPr>
          <a:xfrm>
            <a:off x="6949440" y="1783080"/>
            <a:ext cx="4480560" cy="10515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Viewer presses play</a:t>
            </a:r>
            <a:endParaRPr lang="en-US" sz="1400" dirty="0"/>
          </a:p>
        </p:txBody>
      </p:sp>
      <p:sp>
        <p:nvSpPr>
          <p:cNvPr id="14" name="Text 10"/>
          <p:cNvSpPr/>
          <p:nvPr/>
        </p:nvSpPr>
        <p:spPr>
          <a:xfrm>
            <a:off x="8526780" y="2834640"/>
            <a:ext cx="548640" cy="365760"/>
          </a:xfrm>
          <a:prstGeom prst="rect">
            <a:avLst/>
          </a:prstGeom>
          <a:noFill/>
          <a:ln/>
        </p:spPr>
        <p:txBody>
          <a:bodyPr wrap="square"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15" name="Shape 11"/>
          <p:cNvSpPr/>
          <p:nvPr/>
        </p:nvSpPr>
        <p:spPr>
          <a:xfrm>
            <a:off x="5989320" y="3108960"/>
            <a:ext cx="5623560" cy="1051560"/>
          </a:xfrm>
          <a:prstGeom prst="roundRect">
            <a:avLst>
              <a:gd name="adj" fmla="val 7826"/>
            </a:avLst>
          </a:prstGeom>
          <a:solidFill>
            <a:srgbClr val="F4F8FA"/>
          </a:solidFill>
          <a:ln/>
        </p:spPr>
      </p:sp>
      <p:sp>
        <p:nvSpPr>
          <p:cNvPr id="16" name="Shape 12"/>
          <p:cNvSpPr/>
          <p:nvPr/>
        </p:nvSpPr>
        <p:spPr>
          <a:xfrm>
            <a:off x="6190488" y="3355848"/>
            <a:ext cx="548640" cy="548640"/>
          </a:xfrm>
          <a:prstGeom prst="ellipse">
            <a:avLst/>
          </a:prstGeom>
          <a:solidFill>
            <a:srgbClr val="1C7293"/>
          </a:solidFill>
          <a:ln/>
        </p:spPr>
      </p:sp>
      <p:pic>
        <p:nvPicPr>
          <p:cNvPr id="17" name="Image 2" descr="/home/claude/dc_deck/icon_network.png">    </p:cNvPr>
          <p:cNvPicPr>
            <a:picLocks noChangeAspect="1"/>
          </p:cNvPicPr>
          <p:nvPr/>
        </p:nvPicPr>
        <p:blipFill>
          <a:blip r:embed="rId3"/>
          <a:stretch>
            <a:fillRect/>
          </a:stretch>
        </p:blipFill>
        <p:spPr>
          <a:xfrm>
            <a:off x="6311189" y="3476549"/>
            <a:ext cx="307238" cy="307238"/>
          </a:xfrm>
          <a:prstGeom prst="rect">
            <a:avLst/>
          </a:prstGeom>
        </p:spPr>
      </p:pic>
      <p:sp>
        <p:nvSpPr>
          <p:cNvPr id="18" name="Text 13"/>
          <p:cNvSpPr/>
          <p:nvPr/>
        </p:nvSpPr>
        <p:spPr>
          <a:xfrm>
            <a:off x="6949440" y="3108960"/>
            <a:ext cx="4480560" cy="10515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Request routed to nearest region</a:t>
            </a:r>
            <a:endParaRPr lang="en-US" sz="1400" dirty="0"/>
          </a:p>
        </p:txBody>
      </p:sp>
      <p:sp>
        <p:nvSpPr>
          <p:cNvPr id="19" name="Text 14"/>
          <p:cNvSpPr/>
          <p:nvPr/>
        </p:nvSpPr>
        <p:spPr>
          <a:xfrm>
            <a:off x="8526780" y="4160520"/>
            <a:ext cx="548640" cy="365760"/>
          </a:xfrm>
          <a:prstGeom prst="rect">
            <a:avLst/>
          </a:prstGeom>
          <a:noFill/>
          <a:ln/>
        </p:spPr>
        <p:txBody>
          <a:bodyPr wrap="square" rtlCol="0" anchor="ctr"/>
          <a:lstStyle/>
          <a:p>
            <a:pPr algn="ctr" indent="0" marL="0">
              <a:buNone/>
            </a:pPr>
            <a:r>
              <a:rPr lang="en-US" sz="2000" b="1" dirty="0">
                <a:solidFill>
                  <a:srgbClr val="1C7293"/>
                </a:solidFill>
                <a:latin typeface="Calibri" pitchFamily="34" charset="0"/>
                <a:ea typeface="Calibri" pitchFamily="34" charset="-122"/>
                <a:cs typeface="Calibri" pitchFamily="34" charset="-120"/>
              </a:rPr>
              <a:t>↓</a:t>
            </a:r>
            <a:endParaRPr lang="en-US" sz="2000" dirty="0"/>
          </a:p>
        </p:txBody>
      </p:sp>
      <p:sp>
        <p:nvSpPr>
          <p:cNvPr id="20" name="Shape 15"/>
          <p:cNvSpPr/>
          <p:nvPr/>
        </p:nvSpPr>
        <p:spPr>
          <a:xfrm>
            <a:off x="5989320" y="4434840"/>
            <a:ext cx="5623560" cy="1051560"/>
          </a:xfrm>
          <a:prstGeom prst="roundRect">
            <a:avLst>
              <a:gd name="adj" fmla="val 7826"/>
            </a:avLst>
          </a:prstGeom>
          <a:solidFill>
            <a:srgbClr val="F4F8FA"/>
          </a:solidFill>
          <a:ln/>
        </p:spPr>
      </p:sp>
      <p:sp>
        <p:nvSpPr>
          <p:cNvPr id="21" name="Shape 16"/>
          <p:cNvSpPr/>
          <p:nvPr/>
        </p:nvSpPr>
        <p:spPr>
          <a:xfrm>
            <a:off x="6190488" y="4681728"/>
            <a:ext cx="548640" cy="548640"/>
          </a:xfrm>
          <a:prstGeom prst="ellipse">
            <a:avLst/>
          </a:prstGeom>
          <a:solidFill>
            <a:srgbClr val="065A82"/>
          </a:solidFill>
          <a:ln/>
        </p:spPr>
      </p:sp>
      <p:pic>
        <p:nvPicPr>
          <p:cNvPr id="22" name="Image 3" descr="/home/claude/dc_deck/icon_building.png">    </p:cNvPr>
          <p:cNvPicPr>
            <a:picLocks noChangeAspect="1"/>
          </p:cNvPicPr>
          <p:nvPr/>
        </p:nvPicPr>
        <p:blipFill>
          <a:blip r:embed="rId4"/>
          <a:stretch>
            <a:fillRect/>
          </a:stretch>
        </p:blipFill>
        <p:spPr>
          <a:xfrm>
            <a:off x="6311189" y="4802429"/>
            <a:ext cx="307238" cy="307238"/>
          </a:xfrm>
          <a:prstGeom prst="rect">
            <a:avLst/>
          </a:prstGeom>
        </p:spPr>
      </p:pic>
      <p:sp>
        <p:nvSpPr>
          <p:cNvPr id="23" name="Text 17"/>
          <p:cNvSpPr/>
          <p:nvPr/>
        </p:nvSpPr>
        <p:spPr>
          <a:xfrm>
            <a:off x="6949440" y="4434840"/>
            <a:ext cx="4480560" cy="1051560"/>
          </a:xfrm>
          <a:prstGeom prst="rect">
            <a:avLst/>
          </a:prstGeom>
          <a:noFill/>
          <a:ln/>
        </p:spPr>
        <p:txBody>
          <a:bodyPr wrap="square" rtlCol="0" anchor="ctr"/>
          <a:lstStyle/>
          <a:p>
            <a:pPr indent="0" marL="0">
              <a:buNone/>
            </a:pPr>
            <a:r>
              <a:rPr lang="en-US" sz="1400" b="1" dirty="0">
                <a:solidFill>
                  <a:srgbClr val="21295C"/>
                </a:solidFill>
                <a:latin typeface="Calibri" pitchFamily="34" charset="0"/>
                <a:ea typeface="Calibri" pitchFamily="34" charset="-122"/>
                <a:cs typeface="Calibri" pitchFamily="34" charset="-120"/>
              </a:rPr>
              <a:t>Regional data center serves the stream</a:t>
            </a:r>
            <a:endParaRPr lang="en-US" sz="1400" dirty="0"/>
          </a:p>
        </p:txBody>
      </p:sp>
      <p:sp>
        <p:nvSpPr>
          <p:cNvPr id="24" name="Text 18"/>
          <p:cNvSpPr/>
          <p:nvPr/>
        </p:nvSpPr>
        <p:spPr>
          <a:xfrm>
            <a:off x="11475720" y="6473952"/>
            <a:ext cx="548640" cy="274320"/>
          </a:xfrm>
          <a:prstGeom prst="rect">
            <a:avLst/>
          </a:prstGeom>
          <a:noFill/>
          <a:ln/>
        </p:spPr>
        <p:txBody>
          <a:bodyPr wrap="square" rtlCol="0" anchor="ctr"/>
          <a:lstStyle/>
          <a:p>
            <a:pPr algn="r" indent="0" marL="0">
              <a:buNone/>
            </a:pPr>
            <a:r>
              <a:rPr lang="en-US" sz="1000" dirty="0">
                <a:solidFill>
                  <a:srgbClr val="5B6B75"/>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1295C"/>
        </a:solidFill>
      </p:bgPr>
    </p:bg>
    <p:spTree>
      <p:nvGrpSpPr>
        <p:cNvPr id="1" name=""/>
        <p:cNvGrpSpPr/>
        <p:nvPr/>
      </p:nvGrpSpPr>
      <p:grpSpPr>
        <a:xfrm>
          <a:off x="0" y="0"/>
          <a:ext cx="0" cy="0"/>
          <a:chOff x="0" y="0"/>
          <a:chExt cx="0" cy="0"/>
        </a:xfrm>
      </p:grpSpPr>
      <p:sp>
        <p:nvSpPr>
          <p:cNvPr id="2" name="Text 0"/>
          <p:cNvSpPr/>
          <p:nvPr/>
        </p:nvSpPr>
        <p:spPr>
          <a:xfrm>
            <a:off x="548640" y="548640"/>
            <a:ext cx="73152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3" name="Shape 1"/>
          <p:cNvSpPr/>
          <p:nvPr/>
        </p:nvSpPr>
        <p:spPr>
          <a:xfrm>
            <a:off x="548640" y="1600200"/>
            <a:ext cx="3520440" cy="3291840"/>
          </a:xfrm>
          <a:prstGeom prst="roundRect">
            <a:avLst>
              <a:gd name="adj" fmla="val 2778"/>
            </a:avLst>
          </a:prstGeom>
          <a:solidFill>
            <a:srgbClr val="1A2352"/>
          </a:solidFill>
          <a:ln/>
        </p:spPr>
      </p:sp>
      <p:sp>
        <p:nvSpPr>
          <p:cNvPr id="4" name="Shape 2"/>
          <p:cNvSpPr/>
          <p:nvPr/>
        </p:nvSpPr>
        <p:spPr>
          <a:xfrm>
            <a:off x="822960" y="1874520"/>
            <a:ext cx="594360" cy="594360"/>
          </a:xfrm>
          <a:prstGeom prst="ellipse">
            <a:avLst/>
          </a:prstGeom>
          <a:solidFill>
            <a:srgbClr val="1C7293"/>
          </a:solidFill>
          <a:ln/>
        </p:spPr>
      </p:sp>
      <p:pic>
        <p:nvPicPr>
          <p:cNvPr id="5" name="Image 0" descr="/home/claude/dc_deck/icon_building.png">    </p:cNvPr>
          <p:cNvPicPr>
            <a:picLocks noChangeAspect="1"/>
          </p:cNvPicPr>
          <p:nvPr/>
        </p:nvPicPr>
        <p:blipFill>
          <a:blip r:embed="rId1"/>
          <a:stretch>
            <a:fillRect/>
          </a:stretch>
        </p:blipFill>
        <p:spPr>
          <a:xfrm>
            <a:off x="953719" y="2005279"/>
            <a:ext cx="332842" cy="332842"/>
          </a:xfrm>
          <a:prstGeom prst="rect">
            <a:avLst/>
          </a:prstGeom>
        </p:spPr>
      </p:pic>
      <p:sp>
        <p:nvSpPr>
          <p:cNvPr id="6" name="Text 3"/>
          <p:cNvSpPr/>
          <p:nvPr/>
        </p:nvSpPr>
        <p:spPr>
          <a:xfrm>
            <a:off x="804672" y="2651760"/>
            <a:ext cx="3008376" cy="777240"/>
          </a:xfrm>
          <a:prstGeom prst="rect">
            <a:avLst/>
          </a:prstGeom>
          <a:noFill/>
          <a:ln/>
        </p:spPr>
        <p:txBody>
          <a:bodyPr wrap="square" rtlCol="0" anchor="ctr"/>
          <a:lstStyle/>
          <a:p>
            <a:pPr indent="0" marL="0">
              <a:lnSpc>
                <a:spcPct val="115000"/>
              </a:lnSpc>
              <a:buNone/>
            </a:pPr>
            <a:r>
              <a:rPr lang="en-US" sz="1550" b="1" dirty="0">
                <a:solidFill>
                  <a:srgbClr val="FFFFFF"/>
                </a:solidFill>
                <a:latin typeface="Cambria" pitchFamily="34" charset="0"/>
                <a:ea typeface="Cambria" pitchFamily="34" charset="-122"/>
                <a:cs typeface="Cambria" pitchFamily="34" charset="-120"/>
              </a:rPr>
              <a:t>The data center is the foundation</a:t>
            </a:r>
            <a:endParaRPr lang="en-US" sz="1550" dirty="0"/>
          </a:p>
        </p:txBody>
      </p:sp>
      <p:sp>
        <p:nvSpPr>
          <p:cNvPr id="7" name="Text 4"/>
          <p:cNvSpPr/>
          <p:nvPr/>
        </p:nvSpPr>
        <p:spPr>
          <a:xfrm>
            <a:off x="804672" y="3474720"/>
            <a:ext cx="3008376" cy="1280160"/>
          </a:xfrm>
          <a:prstGeom prst="rect">
            <a:avLst/>
          </a:prstGeom>
          <a:noFill/>
          <a:ln/>
        </p:spPr>
        <p:txBody>
          <a:bodyPr wrap="square"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Every cloud service ultimately runs on physical servers, power, and cooling inside real buildings.</a:t>
            </a:r>
            <a:endParaRPr lang="en-US" sz="1250" dirty="0"/>
          </a:p>
        </p:txBody>
      </p:sp>
      <p:sp>
        <p:nvSpPr>
          <p:cNvPr id="8" name="Shape 5"/>
          <p:cNvSpPr/>
          <p:nvPr/>
        </p:nvSpPr>
        <p:spPr>
          <a:xfrm>
            <a:off x="4361688" y="1600200"/>
            <a:ext cx="3520440" cy="3291840"/>
          </a:xfrm>
          <a:prstGeom prst="roundRect">
            <a:avLst>
              <a:gd name="adj" fmla="val 2778"/>
            </a:avLst>
          </a:prstGeom>
          <a:solidFill>
            <a:srgbClr val="1A2352"/>
          </a:solidFill>
          <a:ln/>
        </p:spPr>
      </p:sp>
      <p:sp>
        <p:nvSpPr>
          <p:cNvPr id="9" name="Shape 6"/>
          <p:cNvSpPr/>
          <p:nvPr/>
        </p:nvSpPr>
        <p:spPr>
          <a:xfrm>
            <a:off x="4636008" y="1874520"/>
            <a:ext cx="594360" cy="594360"/>
          </a:xfrm>
          <a:prstGeom prst="ellipse">
            <a:avLst/>
          </a:prstGeom>
          <a:solidFill>
            <a:srgbClr val="1C7293"/>
          </a:solidFill>
          <a:ln/>
        </p:spPr>
      </p:sp>
      <p:pic>
        <p:nvPicPr>
          <p:cNvPr id="10" name="Image 1" descr="/home/claude/dc_deck/icon_layers.png">    </p:cNvPr>
          <p:cNvPicPr>
            <a:picLocks noChangeAspect="1"/>
          </p:cNvPicPr>
          <p:nvPr/>
        </p:nvPicPr>
        <p:blipFill>
          <a:blip r:embed="rId2"/>
          <a:stretch>
            <a:fillRect/>
          </a:stretch>
        </p:blipFill>
        <p:spPr>
          <a:xfrm>
            <a:off x="4766767" y="2005279"/>
            <a:ext cx="332842" cy="332842"/>
          </a:xfrm>
          <a:prstGeom prst="rect">
            <a:avLst/>
          </a:prstGeom>
        </p:spPr>
      </p:pic>
      <p:sp>
        <p:nvSpPr>
          <p:cNvPr id="11" name="Text 7"/>
          <p:cNvSpPr/>
          <p:nvPr/>
        </p:nvSpPr>
        <p:spPr>
          <a:xfrm>
            <a:off x="4617720" y="2651760"/>
            <a:ext cx="3008376" cy="777240"/>
          </a:xfrm>
          <a:prstGeom prst="rect">
            <a:avLst/>
          </a:prstGeom>
          <a:noFill/>
          <a:ln/>
        </p:spPr>
        <p:txBody>
          <a:bodyPr wrap="square" rtlCol="0" anchor="ctr"/>
          <a:lstStyle/>
          <a:p>
            <a:pPr indent="0" marL="0">
              <a:lnSpc>
                <a:spcPct val="115000"/>
              </a:lnSpc>
              <a:buNone/>
            </a:pPr>
            <a:r>
              <a:rPr lang="en-US" sz="1550" b="1" dirty="0">
                <a:solidFill>
                  <a:srgbClr val="FFFFFF"/>
                </a:solidFill>
                <a:latin typeface="Cambria" pitchFamily="34" charset="0"/>
                <a:ea typeface="Cambria" pitchFamily="34" charset="-122"/>
                <a:cs typeface="Cambria" pitchFamily="34" charset="-120"/>
              </a:rPr>
              <a:t>Virtualization is the bridge</a:t>
            </a:r>
            <a:endParaRPr lang="en-US" sz="1550" dirty="0"/>
          </a:p>
        </p:txBody>
      </p:sp>
      <p:sp>
        <p:nvSpPr>
          <p:cNvPr id="12" name="Text 8"/>
          <p:cNvSpPr/>
          <p:nvPr/>
        </p:nvSpPr>
        <p:spPr>
          <a:xfrm>
            <a:off x="4617720" y="3474720"/>
            <a:ext cx="3008376" cy="1280160"/>
          </a:xfrm>
          <a:prstGeom prst="rect">
            <a:avLst/>
          </a:prstGeom>
          <a:noFill/>
          <a:ln/>
        </p:spPr>
        <p:txBody>
          <a:bodyPr wrap="square"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It transforms fixed hardware into flexible, on-demand cloud resources anyone can rent instantly.</a:t>
            </a:r>
            <a:endParaRPr lang="en-US" sz="1250" dirty="0"/>
          </a:p>
        </p:txBody>
      </p:sp>
      <p:sp>
        <p:nvSpPr>
          <p:cNvPr id="13" name="Shape 9"/>
          <p:cNvSpPr/>
          <p:nvPr/>
        </p:nvSpPr>
        <p:spPr>
          <a:xfrm>
            <a:off x="8174736" y="1600200"/>
            <a:ext cx="3520440" cy="3291840"/>
          </a:xfrm>
          <a:prstGeom prst="roundRect">
            <a:avLst>
              <a:gd name="adj" fmla="val 2778"/>
            </a:avLst>
          </a:prstGeom>
          <a:solidFill>
            <a:srgbClr val="1A2352"/>
          </a:solidFill>
          <a:ln/>
        </p:spPr>
      </p:sp>
      <p:sp>
        <p:nvSpPr>
          <p:cNvPr id="14" name="Shape 10"/>
          <p:cNvSpPr/>
          <p:nvPr/>
        </p:nvSpPr>
        <p:spPr>
          <a:xfrm>
            <a:off x="8449056" y="1874520"/>
            <a:ext cx="594360" cy="594360"/>
          </a:xfrm>
          <a:prstGeom prst="ellipse">
            <a:avLst/>
          </a:prstGeom>
          <a:solidFill>
            <a:srgbClr val="1C7293"/>
          </a:solidFill>
          <a:ln/>
        </p:spPr>
      </p:sp>
      <p:pic>
        <p:nvPicPr>
          <p:cNvPr id="15" name="Image 2" descr="/home/claude/dc_deck/icon_globe.png">    </p:cNvPr>
          <p:cNvPicPr>
            <a:picLocks noChangeAspect="1"/>
          </p:cNvPicPr>
          <p:nvPr/>
        </p:nvPicPr>
        <p:blipFill>
          <a:blip r:embed="rId3"/>
          <a:stretch>
            <a:fillRect/>
          </a:stretch>
        </p:blipFill>
        <p:spPr>
          <a:xfrm>
            <a:off x="8579815" y="2005279"/>
            <a:ext cx="332842" cy="332842"/>
          </a:xfrm>
          <a:prstGeom prst="rect">
            <a:avLst/>
          </a:prstGeom>
        </p:spPr>
      </p:pic>
      <p:sp>
        <p:nvSpPr>
          <p:cNvPr id="16" name="Text 11"/>
          <p:cNvSpPr/>
          <p:nvPr/>
        </p:nvSpPr>
        <p:spPr>
          <a:xfrm>
            <a:off x="8430768" y="2651760"/>
            <a:ext cx="3008376" cy="777240"/>
          </a:xfrm>
          <a:prstGeom prst="rect">
            <a:avLst/>
          </a:prstGeom>
          <a:noFill/>
          <a:ln/>
        </p:spPr>
        <p:txBody>
          <a:bodyPr wrap="square" rtlCol="0" anchor="ctr"/>
          <a:lstStyle/>
          <a:p>
            <a:pPr indent="0" marL="0">
              <a:lnSpc>
                <a:spcPct val="115000"/>
              </a:lnSpc>
              <a:buNone/>
            </a:pPr>
            <a:r>
              <a:rPr lang="en-US" sz="1550" b="1" dirty="0">
                <a:solidFill>
                  <a:srgbClr val="FFFFFF"/>
                </a:solidFill>
                <a:latin typeface="Cambria" pitchFamily="34" charset="0"/>
                <a:ea typeface="Cambria" pitchFamily="34" charset="-122"/>
                <a:cs typeface="Cambria" pitchFamily="34" charset="-120"/>
              </a:rPr>
              <a:t>Scale and redundancy define reliability</a:t>
            </a:r>
            <a:endParaRPr lang="en-US" sz="1550" dirty="0"/>
          </a:p>
        </p:txBody>
      </p:sp>
      <p:sp>
        <p:nvSpPr>
          <p:cNvPr id="17" name="Text 12"/>
          <p:cNvSpPr/>
          <p:nvPr/>
        </p:nvSpPr>
        <p:spPr>
          <a:xfrm>
            <a:off x="8430768" y="3474720"/>
            <a:ext cx="3008376" cy="1280160"/>
          </a:xfrm>
          <a:prstGeom prst="rect">
            <a:avLst/>
          </a:prstGeom>
          <a:noFill/>
          <a:ln/>
        </p:spPr>
        <p:txBody>
          <a:bodyPr wrap="square" rtlCol="0" anchor="ctr"/>
          <a:lstStyle/>
          <a:p>
            <a:pPr indent="0" marL="0">
              <a:lnSpc>
                <a:spcPct val="130000"/>
              </a:lnSpc>
              <a:buNone/>
            </a:pPr>
            <a:r>
              <a:rPr lang="en-US" sz="1250" dirty="0">
                <a:solidFill>
                  <a:srgbClr val="CADCFC"/>
                </a:solidFill>
                <a:latin typeface="Calibri" pitchFamily="34" charset="0"/>
                <a:ea typeface="Calibri" pitchFamily="34" charset="-122"/>
                <a:cs typeface="Calibri" pitchFamily="34" charset="-120"/>
              </a:rPr>
              <a:t>Distributed regions keep global cloud services fast and available even when individual facilities fail.</a:t>
            </a:r>
            <a:endParaRPr lang="en-US" sz="1250" dirty="0"/>
          </a:p>
        </p:txBody>
      </p:sp>
      <p:sp>
        <p:nvSpPr>
          <p:cNvPr id="18" name="Shape 13"/>
          <p:cNvSpPr/>
          <p:nvPr/>
        </p:nvSpPr>
        <p:spPr>
          <a:xfrm>
            <a:off x="548640" y="5257800"/>
            <a:ext cx="11064240" cy="0"/>
          </a:xfrm>
          <a:prstGeom prst="line">
            <a:avLst/>
          </a:prstGeom>
          <a:noFill/>
          <a:ln w="12700">
            <a:solidFill>
              <a:srgbClr val="1C7293"/>
            </a:solidFill>
            <a:prstDash val="solid"/>
          </a:ln>
        </p:spPr>
      </p:sp>
      <p:sp>
        <p:nvSpPr>
          <p:cNvPr id="19" name="Text 14"/>
          <p:cNvSpPr/>
          <p:nvPr/>
        </p:nvSpPr>
        <p:spPr>
          <a:xfrm>
            <a:off x="548640" y="5486400"/>
            <a:ext cx="11064240" cy="822960"/>
          </a:xfrm>
          <a:prstGeom prst="rect">
            <a:avLst/>
          </a:prstGeom>
          <a:noFill/>
          <a:ln/>
        </p:spPr>
        <p:txBody>
          <a:bodyPr wrap="square" rtlCol="0" anchor="ctr"/>
          <a:lstStyle/>
          <a:p>
            <a:pPr algn="ctr" indent="0" marL="0">
              <a:buNone/>
            </a:pPr>
            <a:r>
              <a:rPr lang="en-US" sz="1500" i="1" dirty="0">
                <a:solidFill>
                  <a:srgbClr val="5FD3C4"/>
                </a:solidFill>
                <a:latin typeface="Calibri" pitchFamily="34" charset="0"/>
                <a:ea typeface="Calibri" pitchFamily="34" charset="-122"/>
                <a:cs typeface="Calibri" pitchFamily="34" charset="-120"/>
              </a:rPr>
              <a:t>Bottom line: the cloud isn’t a metaphor — it’s a global network of data centers, engineered to feel invisible.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2026-07-22T03:46:36Z</dcterms:created>
  <dcterms:modified xsi:type="dcterms:W3CDTF">2026-07-22T03:46:36Z</dcterms:modified>
</cp:coreProperties>
</file>